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7" r:id="rId2"/>
    <p:sldId id="278" r:id="rId3"/>
    <p:sldId id="280" r:id="rId4"/>
    <p:sldId id="279" r:id="rId5"/>
    <p:sldId id="283" r:id="rId6"/>
    <p:sldId id="282" r:id="rId7"/>
    <p:sldId id="311" r:id="rId8"/>
    <p:sldId id="302" r:id="rId9"/>
    <p:sldId id="307" r:id="rId10"/>
    <p:sldId id="303" r:id="rId11"/>
    <p:sldId id="312" r:id="rId12"/>
    <p:sldId id="306" r:id="rId13"/>
    <p:sldId id="304" r:id="rId14"/>
    <p:sldId id="313" r:id="rId15"/>
    <p:sldId id="308" r:id="rId16"/>
    <p:sldId id="300" r:id="rId17"/>
    <p:sldId id="309" r:id="rId18"/>
    <p:sldId id="310" r:id="rId19"/>
    <p:sldId id="301" r:id="rId20"/>
    <p:sldId id="27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5D887-F422-4E6C-89E7-1C37FE7F26AB}" type="datetimeFigureOut">
              <a:rPr lang="ru-RU" smtClean="0"/>
              <a:t>04.01.2020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A99CF-F3E0-407F-BAC3-8B4430D4E5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56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E5FEF76-A0D3-4E74-B029-19F9D73D0870}" type="slidenum">
              <a:rPr lang="ru-RU" sz="1200">
                <a:latin typeface="+mn-lt"/>
              </a:rPr>
              <a:pPr algn="r">
                <a:defRPr/>
              </a:pPr>
              <a:t>1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218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92B80BF-3242-46BC-9A1E-2E7DFD317617}" type="slidenum">
              <a:rPr lang="ru-RU" sz="1200">
                <a:latin typeface="+mn-lt"/>
              </a:rPr>
              <a:pPr algn="r">
                <a:defRPr/>
              </a:pPr>
              <a:t>3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740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1A9E20A-4AAB-48D6-9FE4-2A9D1F48EADE}" type="slidenum">
              <a:rPr lang="ru-RU" sz="1200">
                <a:latin typeface="+mn-lt"/>
              </a:rPr>
              <a:pPr algn="r">
                <a:defRPr/>
              </a:pPr>
              <a:t>4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3445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DE2EF2D-50B8-4917-BB2F-E1B07B52BB8F}" type="slidenum">
              <a:rPr lang="ru-RU" sz="1200">
                <a:latin typeface="+mn-lt"/>
              </a:rPr>
              <a:pPr algn="r">
                <a:defRPr/>
              </a:pPr>
              <a:t>6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4977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0D5EBC0-DE09-463E-80BC-6669F6BE1763}" type="slidenum">
              <a:rPr lang="ru-RU" sz="1200">
                <a:latin typeface="+mn-lt"/>
              </a:rPr>
              <a:pPr algn="r">
                <a:defRPr/>
              </a:pPr>
              <a:t>16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1148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638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7BC8BB8-1DEA-47E2-94A8-2D452EFC6EA7}" type="slidenum">
              <a:rPr lang="ru-RU" sz="1200">
                <a:latin typeface="+mn-lt"/>
              </a:rPr>
              <a:pPr algn="r">
                <a:defRPr/>
              </a:pPr>
              <a:t>19</a:t>
            </a:fld>
            <a:endParaRPr lang="ru-RU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635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83E73-D0B6-4E37-8219-40C2D278B3C9}" type="datetime1">
              <a:rPr lang="ru-RU"/>
              <a:pPr>
                <a:defRPr/>
              </a:pPr>
              <a:t>04.01.2020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C68AD-5710-4354-A7D5-7A2B02147C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06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E0448-2BC5-4311-8C14-DA8C5C3FB813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3E138-827D-4743-BC99-478FA42B3E1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-n.ru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eidos.ru/journal/2012/0329-10.htm" TargetMode="External"/><Relationship Id="rId4" Type="http://schemas.openxmlformats.org/officeDocument/2006/relationships/hyperlink" Target="http://eidos.ru/journal/2012/0529-10.ht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6"/>
          <p:cNvSpPr txBox="1">
            <a:spLocks noChangeArrowheads="1"/>
          </p:cNvSpPr>
          <p:nvPr/>
        </p:nvSpPr>
        <p:spPr bwMode="auto">
          <a:xfrm>
            <a:off x="835171" y="1300163"/>
            <a:ext cx="771048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«Кто чувствует в себе силу сделать лучше, тот не испытывает страха перед признанием своей ошибки»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r"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Т. </a:t>
            </a:r>
            <a:r>
              <a:rPr lang="ru-RU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Бильрот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4312DC1-14AC-4367-A9AC-3B4D20235037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1600" y="2564904"/>
            <a:ext cx="7574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«Суди себя сам. Это самое трудное. Себя судить куда труднее, чем других. Если ты сумеешь правильно судить себя, значит, ты поистине мудр»</a:t>
            </a:r>
          </a:p>
          <a:p>
            <a:pPr algn="r"/>
            <a:r>
              <a:rPr lang="ru-RU" i="1" dirty="0"/>
              <a:t>                                          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Антуан де Сент-Экзюпери</a:t>
            </a:r>
          </a:p>
          <a:p>
            <a:pPr algn="r"/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71600" y="4058641"/>
            <a:ext cx="75993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«Тот, кто сумел отрефлексировать действительность, </a:t>
            </a:r>
            <a:b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тот и получает преимущества в движении вперед » </a:t>
            </a:r>
            <a:b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b="1" i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72200" y="4797305"/>
            <a:ext cx="21987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Евгений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Доманский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25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1244802" y="1196752"/>
            <a:ext cx="642354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Algerian" pitchFamily="82" charset="0"/>
              </a:rPr>
              <a:t>Рефлексия</a:t>
            </a:r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Comic Sans MS" pitchFamily="66" charset="0"/>
              </a:rPr>
              <a:t> как этап современного урока </a:t>
            </a:r>
          </a:p>
        </p:txBody>
      </p:sp>
      <p:sp>
        <p:nvSpPr>
          <p:cNvPr id="19462" name="TextBox 10"/>
          <p:cNvSpPr txBox="1">
            <a:spLocks noChangeArrowheads="1"/>
          </p:cNvSpPr>
          <p:nvPr/>
        </p:nvSpPr>
        <p:spPr bwMode="auto">
          <a:xfrm>
            <a:off x="4367213" y="3875772"/>
            <a:ext cx="374173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ru-RU" sz="2000" b="1" dirty="0" err="1" smtClean="0">
                <a:solidFill>
                  <a:srgbClr val="009900"/>
                </a:solidFill>
                <a:latin typeface="Calibri" pitchFamily="34" charset="0"/>
              </a:rPr>
              <a:t>Русинова</a:t>
            </a:r>
            <a:r>
              <a:rPr lang="ru-RU" sz="2000" b="1" dirty="0" smtClean="0">
                <a:solidFill>
                  <a:srgbClr val="009900"/>
                </a:solidFill>
                <a:latin typeface="Calibri" pitchFamily="34" charset="0"/>
              </a:rPr>
              <a:t> Тамара Николаевна, </a:t>
            </a:r>
            <a:r>
              <a:rPr lang="ru-RU" sz="2000" b="1" dirty="0">
                <a:solidFill>
                  <a:srgbClr val="009900"/>
                </a:solidFill>
                <a:latin typeface="Calibri" pitchFamily="34" charset="0"/>
              </a:rPr>
              <a:t>учитель </a:t>
            </a:r>
            <a:r>
              <a:rPr lang="ru-RU" sz="2000" b="1" dirty="0" smtClean="0">
                <a:solidFill>
                  <a:srgbClr val="009900"/>
                </a:solidFill>
                <a:latin typeface="Calibri" pitchFamily="34" charset="0"/>
              </a:rPr>
              <a:t>математики</a:t>
            </a:r>
            <a:endParaRPr lang="ru-RU" sz="2000" b="1" dirty="0">
              <a:solidFill>
                <a:srgbClr val="009900"/>
              </a:solidFill>
              <a:latin typeface="Calibri" pitchFamily="34" charset="0"/>
            </a:endParaRPr>
          </a:p>
          <a:p>
            <a:pPr algn="r"/>
            <a:r>
              <a:rPr lang="ru-RU" sz="2000" b="1" dirty="0">
                <a:solidFill>
                  <a:srgbClr val="009900"/>
                </a:solidFill>
                <a:latin typeface="Calibri" pitchFamily="34" charset="0"/>
              </a:rPr>
              <a:t> МОБУ </a:t>
            </a:r>
            <a:r>
              <a:rPr lang="ru-RU" sz="2000" b="1" dirty="0" smtClean="0">
                <a:solidFill>
                  <a:srgbClr val="009900"/>
                </a:solidFill>
                <a:latin typeface="Calibri" pitchFamily="34" charset="0"/>
              </a:rPr>
              <a:t>Менделеевская СОШ</a:t>
            </a:r>
            <a:endParaRPr lang="ru-RU" sz="2000" b="1" dirty="0">
              <a:solidFill>
                <a:srgbClr val="009900"/>
              </a:solidFill>
              <a:latin typeface="Calibri" pitchFamily="34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4367213" y="5597525"/>
            <a:ext cx="11388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488FD0"/>
                </a:solidFill>
              </a:rPr>
              <a:t>2016 </a:t>
            </a:r>
            <a:r>
              <a:rPr lang="ru-RU" b="1" dirty="0">
                <a:solidFill>
                  <a:srgbClr val="488FD0"/>
                </a:solidFill>
              </a:rPr>
              <a:t>год</a:t>
            </a:r>
          </a:p>
        </p:txBody>
      </p:sp>
    </p:spTree>
    <p:extLst>
      <p:ext uri="{BB962C8B-B14F-4D97-AF65-F5344CB8AC3E}">
        <p14:creationId xmlns:p14="http://schemas.microsoft.com/office/powerpoint/2010/main" val="238477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618171" y="692696"/>
            <a:ext cx="75279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 dirty="0"/>
              <a:t>Организация рефлексивной деятельности на уроке-   подготовка к  развитию необходимых современной личности </a:t>
            </a:r>
            <a:r>
              <a:rPr lang="ru-RU" b="1" i="1" dirty="0"/>
              <a:t>качеств.</a:t>
            </a:r>
            <a:r>
              <a:rPr lang="ru-RU" b="1" dirty="0"/>
              <a:t> </a:t>
            </a:r>
            <a:endParaRPr lang="ru-RU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180828" y="1486619"/>
            <a:ext cx="6991572" cy="3582268"/>
          </a:xfrm>
          <a:prstGeom prst="roundRect">
            <a:avLst>
              <a:gd name="adj" fmla="val 1639"/>
            </a:avLst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5E39EC5-F28D-4C4A-BE7D-68814D600D99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22537" name="Picture 9" descr="school-children-illustration-vector_18-9112"/>
          <p:cNvPicPr>
            <a:picLocks noChangeAspect="1" noChangeArrowheads="1"/>
          </p:cNvPicPr>
          <p:nvPr/>
        </p:nvPicPr>
        <p:blipFill>
          <a:blip r:embed="rId3"/>
          <a:srcRect l="3831" t="26443" b="6250"/>
          <a:stretch>
            <a:fillRect/>
          </a:stretch>
        </p:blipFill>
        <p:spPr bwMode="auto">
          <a:xfrm>
            <a:off x="2158770" y="1925923"/>
            <a:ext cx="4260850" cy="226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42" name="AutoShape 14"/>
          <p:cNvSpPr>
            <a:spLocks noChangeArrowheads="1"/>
          </p:cNvSpPr>
          <p:nvPr/>
        </p:nvSpPr>
        <p:spPr bwMode="auto">
          <a:xfrm>
            <a:off x="3854220" y="1818119"/>
            <a:ext cx="434975" cy="898525"/>
          </a:xfrm>
          <a:prstGeom prst="upArrow">
            <a:avLst>
              <a:gd name="adj1" fmla="val 50000"/>
              <a:gd name="adj2" fmla="val 516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2543" name="AutoShape 15"/>
          <p:cNvSpPr>
            <a:spLocks noChangeArrowheads="1"/>
          </p:cNvSpPr>
          <p:nvPr/>
        </p:nvSpPr>
        <p:spPr bwMode="auto">
          <a:xfrm rot="8022470">
            <a:off x="6296026" y="3519393"/>
            <a:ext cx="434975" cy="898525"/>
          </a:xfrm>
          <a:prstGeom prst="upArrow">
            <a:avLst>
              <a:gd name="adj1" fmla="val 50000"/>
              <a:gd name="adj2" fmla="val 516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2544" name="AutoShape 16"/>
          <p:cNvSpPr>
            <a:spLocks noChangeArrowheads="1"/>
          </p:cNvSpPr>
          <p:nvPr/>
        </p:nvSpPr>
        <p:spPr bwMode="auto">
          <a:xfrm rot="13973250">
            <a:off x="2430776" y="3746625"/>
            <a:ext cx="434975" cy="898525"/>
          </a:xfrm>
          <a:prstGeom prst="upArrow">
            <a:avLst>
              <a:gd name="adj1" fmla="val 50000"/>
              <a:gd name="adj2" fmla="val 516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2828574" y="1468724"/>
            <a:ext cx="3679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FF3300"/>
                </a:solidFill>
              </a:rPr>
              <a:t>Самостоятельность</a:t>
            </a:r>
            <a:r>
              <a:rPr lang="ru-RU" sz="2400" dirty="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1284980" y="4436304"/>
            <a:ext cx="3355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009900"/>
                </a:solidFill>
              </a:rPr>
              <a:t>Предприимчивость</a:t>
            </a:r>
            <a:r>
              <a:rPr lang="ru-RU" sz="2400" dirty="0">
                <a:solidFill>
                  <a:srgbClr val="009900"/>
                </a:solidFill>
              </a:rPr>
              <a:t> 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4382134" y="4447849"/>
            <a:ext cx="3646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chemeClr val="tx2"/>
                </a:solidFill>
              </a:rPr>
              <a:t>Конкурентоспособность</a:t>
            </a:r>
            <a:r>
              <a:rPr lang="ru-RU" sz="2400" dirty="0">
                <a:solidFill>
                  <a:schemeClr val="hlink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572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6"/>
          <p:cNvSpPr txBox="1">
            <a:spLocks noChangeArrowheads="1"/>
          </p:cNvSpPr>
          <p:nvPr/>
        </p:nvSpPr>
        <p:spPr bwMode="auto">
          <a:xfrm>
            <a:off x="1016000" y="909061"/>
            <a:ext cx="74437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>
                <a:solidFill>
                  <a:srgbClr val="0070C0"/>
                </a:solidFill>
                <a:latin typeface="Comic Sans MS" pitchFamily="66" charset="0"/>
              </a:rPr>
              <a:t>Таблица-фиксация знаний </a:t>
            </a:r>
          </a:p>
          <a:p>
            <a:pPr algn="ctr"/>
            <a:r>
              <a:rPr lang="ru-RU" sz="2800" b="1">
                <a:solidFill>
                  <a:srgbClr val="0070C0"/>
                </a:solidFill>
                <a:latin typeface="Comic Sans MS" pitchFamily="66" charset="0"/>
              </a:rPr>
              <a:t>по данной теме</a:t>
            </a:r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771525" y="1851025"/>
            <a:ext cx="75136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88A9017-D082-4866-B5E1-A8440B219D9F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graphicFrame>
        <p:nvGraphicFramePr>
          <p:cNvPr id="32800" name="Group 3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861282909"/>
              </p:ext>
            </p:extLst>
          </p:nvPr>
        </p:nvGraphicFramePr>
        <p:xfrm>
          <a:off x="981075" y="2279650"/>
          <a:ext cx="7253288" cy="2661518"/>
        </p:xfrm>
        <a:graphic>
          <a:graphicData uri="http://schemas.openxmlformats.org/drawingml/2006/table">
            <a:tbl>
              <a:tblPr/>
              <a:tblGrid>
                <a:gridCol w="1995488"/>
                <a:gridCol w="1631950"/>
                <a:gridCol w="1812925"/>
                <a:gridCol w="1812925"/>
              </a:tblGrid>
              <a:tr h="1017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Понятие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Знаю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Хочу узнать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Узнал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4393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 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itchFamily="34" charset="0"/>
                        </a:rPr>
                        <a:t>Рефлексия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54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927065"/>
          </a:xfrm>
        </p:spPr>
        <p:txBody>
          <a:bodyPr/>
          <a:lstStyle/>
          <a:p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628650" y="1224295"/>
            <a:ext cx="3886200" cy="4835542"/>
          </a:xfrm>
        </p:spPr>
        <p:txBody>
          <a:bodyPr/>
          <a:lstStyle/>
          <a:p>
            <a:pPr algn="ctr"/>
            <a:endParaRPr lang="ru-RU" sz="1600" dirty="0"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ru-RU" sz="2000" b="1" dirty="0">
                <a:latin typeface="Comic Sans MS" pitchFamily="66" charset="0"/>
              </a:rPr>
              <a:t>размышление о своем внутреннем состоянии, самопознание (Словарь иностранных слов</a:t>
            </a:r>
            <a:r>
              <a:rPr lang="ru-RU" sz="2000" dirty="0">
                <a:latin typeface="Comic Sans MS" pitchFamily="66" charset="0"/>
              </a:rPr>
              <a:t>) </a:t>
            </a:r>
          </a:p>
          <a:p>
            <a:pPr>
              <a:buFontTx/>
              <a:buChar char="•"/>
            </a:pPr>
            <a:r>
              <a:rPr lang="ru-RU" sz="2000" b="1" dirty="0" smtClean="0">
                <a:latin typeface="Comic Sans MS" pitchFamily="66" charset="0"/>
              </a:rPr>
              <a:t>самоанализ</a:t>
            </a:r>
            <a:r>
              <a:rPr lang="ru-RU" sz="2000" dirty="0" smtClean="0">
                <a:latin typeface="Comic Sans MS" pitchFamily="66" charset="0"/>
              </a:rPr>
              <a:t> </a:t>
            </a:r>
            <a:r>
              <a:rPr lang="ru-RU" sz="2000" dirty="0">
                <a:latin typeface="Comic Sans MS" pitchFamily="66" charset="0"/>
              </a:rPr>
              <a:t>(</a:t>
            </a:r>
            <a:r>
              <a:rPr lang="ru-RU" sz="2000" b="1" dirty="0">
                <a:latin typeface="Comic Sans MS" pitchFamily="66" charset="0"/>
              </a:rPr>
              <a:t>Толковый словарь русского языка</a:t>
            </a:r>
            <a:r>
              <a:rPr lang="ru-RU" sz="2000" dirty="0">
                <a:latin typeface="Comic Sans MS" pitchFamily="66" charset="0"/>
              </a:rPr>
              <a:t>)</a:t>
            </a:r>
          </a:p>
          <a:p>
            <a:pPr>
              <a:buFontTx/>
              <a:buChar char="•"/>
            </a:pPr>
            <a:r>
              <a:rPr lang="ru-RU" sz="2000" b="1" dirty="0" smtClean="0">
                <a:latin typeface="Comic Sans MS" pitchFamily="66" charset="0"/>
              </a:rPr>
              <a:t>в </a:t>
            </a:r>
            <a:r>
              <a:rPr lang="ru-RU" sz="2000" b="1" dirty="0">
                <a:latin typeface="Comic Sans MS" pitchFamily="66" charset="0"/>
              </a:rPr>
              <a:t>современной педагогике под рефлексией понимают самоанализ деятельности и её  результатов.</a:t>
            </a:r>
            <a:endParaRPr lang="ru-RU" sz="2000" dirty="0">
              <a:latin typeface="Comic Sans MS" pitchFamily="66" charset="0"/>
            </a:endParaRPr>
          </a:p>
          <a:p>
            <a:endParaRPr lang="ru-RU" sz="1600" dirty="0"/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 </a:t>
            </a:r>
            <a:r>
              <a:rPr lang="ru-RU" b="1" dirty="0">
                <a:latin typeface="Comic Sans MS" pitchFamily="66" charset="0"/>
              </a:rPr>
              <a:t>от лат. </a:t>
            </a:r>
            <a:r>
              <a:rPr lang="ru-RU" b="1" dirty="0" err="1">
                <a:solidFill>
                  <a:srgbClr val="FF3300"/>
                </a:solidFill>
                <a:latin typeface="Comic Sans MS" pitchFamily="66" charset="0"/>
              </a:rPr>
              <a:t>reflexio</a:t>
            </a:r>
            <a:r>
              <a:rPr lang="ru-RU" b="1" dirty="0">
                <a:solidFill>
                  <a:srgbClr val="FF3300"/>
                </a:solidFill>
                <a:latin typeface="Comic Sans MS" pitchFamily="66" charset="0"/>
              </a:rPr>
              <a:t> </a:t>
            </a:r>
            <a:r>
              <a:rPr lang="ru-RU" b="1" dirty="0">
                <a:latin typeface="Comic Sans MS" pitchFamily="66" charset="0"/>
              </a:rPr>
              <a:t>– обращение назад</a:t>
            </a:r>
            <a:r>
              <a:rPr lang="ru-RU" dirty="0">
                <a:latin typeface="Comic Sans MS" pitchFamily="66" charset="0"/>
              </a:rPr>
              <a:t> </a:t>
            </a:r>
          </a:p>
          <a:p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D49A4-52D9-4DD2-940B-A95D7C6C871F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640" y="2852936"/>
            <a:ext cx="3528811" cy="234909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43608" y="681714"/>
            <a:ext cx="69277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Comic Sans MS" pitchFamily="66" charset="0"/>
              </a:rPr>
              <a:t>А что </a:t>
            </a:r>
            <a:r>
              <a:rPr lang="ru-RU" sz="2800" b="1" dirty="0" smtClean="0">
                <a:solidFill>
                  <a:schemeClr val="accent3">
                    <a:lumMod val="50000"/>
                  </a:schemeClr>
                </a:solidFill>
                <a:latin typeface="Comic Sans MS" pitchFamily="66" charset="0"/>
              </a:rPr>
              <a:t>же  </a:t>
            </a: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latin typeface="Comic Sans MS" pitchFamily="66" charset="0"/>
              </a:rPr>
              <a:t>такое рефлексия? </a:t>
            </a:r>
          </a:p>
        </p:txBody>
      </p:sp>
    </p:spTree>
    <p:extLst>
      <p:ext uri="{BB962C8B-B14F-4D97-AF65-F5344CB8AC3E}">
        <p14:creationId xmlns:p14="http://schemas.microsoft.com/office/powerpoint/2010/main" val="188357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6"/>
          <p:cNvSpPr txBox="1">
            <a:spLocks noChangeArrowheads="1"/>
          </p:cNvSpPr>
          <p:nvPr/>
        </p:nvSpPr>
        <p:spPr bwMode="auto">
          <a:xfrm>
            <a:off x="1127125" y="546100"/>
            <a:ext cx="7359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 dirty="0">
                <a:latin typeface="Comic Sans MS" pitchFamily="66" charset="0"/>
              </a:rPr>
              <a:t>Классификация рефлексии:</a:t>
            </a:r>
            <a:endParaRPr lang="ru-RU" sz="4400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1525" y="1851025"/>
            <a:ext cx="7513638" cy="3508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sz="2800" b="1" dirty="0">
                <a:latin typeface="Comic Sans MS" pitchFamily="66" charset="0"/>
              </a:rPr>
              <a:t>рефлексия </a:t>
            </a:r>
            <a:r>
              <a:rPr lang="ru-RU" sz="2800" b="1" dirty="0">
                <a:solidFill>
                  <a:srgbClr val="FF3300"/>
                </a:solidFill>
                <a:latin typeface="Comic Sans MS" pitchFamily="66" charset="0"/>
              </a:rPr>
              <a:t>настроения и эмоционального состояния;</a:t>
            </a:r>
          </a:p>
          <a:p>
            <a:pPr>
              <a:buFontTx/>
              <a:buChar char="•"/>
            </a:pPr>
            <a:endParaRPr lang="ru-RU" sz="2800" b="1" dirty="0">
              <a:solidFill>
                <a:srgbClr val="FF3300"/>
              </a:solidFill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ru-RU" sz="2800" b="1" dirty="0">
                <a:latin typeface="Comic Sans MS" pitchFamily="66" charset="0"/>
              </a:rPr>
              <a:t>рефлексия </a:t>
            </a:r>
            <a:r>
              <a:rPr lang="ru-RU" sz="2800" b="1" dirty="0">
                <a:solidFill>
                  <a:schemeClr val="tx2"/>
                </a:solidFill>
                <a:latin typeface="Comic Sans MS" pitchFamily="66" charset="0"/>
              </a:rPr>
              <a:t>деятельности</a:t>
            </a:r>
            <a:r>
              <a:rPr lang="ru-RU" sz="2800" b="1" dirty="0">
                <a:solidFill>
                  <a:schemeClr val="hlink"/>
                </a:solidFill>
                <a:latin typeface="Comic Sans MS" pitchFamily="66" charset="0"/>
              </a:rPr>
              <a:t>;</a:t>
            </a:r>
          </a:p>
          <a:p>
            <a:pPr>
              <a:buFontTx/>
              <a:buChar char="•"/>
            </a:pPr>
            <a:endParaRPr lang="ru-RU" sz="2800" b="1" dirty="0">
              <a:solidFill>
                <a:schemeClr val="hlink"/>
              </a:solidFill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ru-RU" sz="2800" b="1" dirty="0">
                <a:latin typeface="Comic Sans MS" pitchFamily="66" charset="0"/>
              </a:rPr>
              <a:t>рефлексия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</a:rPr>
              <a:t>содержания учебного материала.</a:t>
            </a:r>
          </a:p>
          <a:p>
            <a:pPr>
              <a:buFontTx/>
              <a:buChar char="•"/>
            </a:pPr>
            <a:endParaRPr lang="ru-RU" sz="2800" b="1" dirty="0">
              <a:solidFill>
                <a:srgbClr val="009900"/>
              </a:solidFill>
              <a:latin typeface="Comic Sans MS" pitchFamily="66" charset="0"/>
            </a:endParaRPr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C291C44-35DA-4169-AC51-C74FAA2C1385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12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prstClr val="black"/>
                </a:solidFill>
                <a:latin typeface="Comic Sans MS" pitchFamily="66" charset="0"/>
              </a:rPr>
              <a:t>рефлексия </a:t>
            </a:r>
            <a:r>
              <a:rPr lang="ru-RU" sz="2800" b="1" dirty="0">
                <a:solidFill>
                  <a:srgbClr val="FF3300"/>
                </a:solidFill>
                <a:latin typeface="Comic Sans MS" pitchFamily="66" charset="0"/>
              </a:rPr>
              <a:t>настроения и </a:t>
            </a:r>
            <a:br>
              <a:rPr lang="ru-RU" sz="2800" b="1" dirty="0">
                <a:solidFill>
                  <a:srgbClr val="FF3300"/>
                </a:solidFill>
                <a:latin typeface="Comic Sans MS" pitchFamily="66" charset="0"/>
              </a:rPr>
            </a:br>
            <a:r>
              <a:rPr lang="ru-RU" sz="2800" b="1" dirty="0">
                <a:solidFill>
                  <a:srgbClr val="FF3300"/>
                </a:solidFill>
                <a:latin typeface="Comic Sans MS" pitchFamily="66" charset="0"/>
              </a:rPr>
              <a:t>эмоционального состояния</a:t>
            </a:r>
            <a:r>
              <a:rPr lang="ru-RU" sz="4000" dirty="0">
                <a:solidFill>
                  <a:prstClr val="black"/>
                </a:solidFill>
              </a:rPr>
              <a:t/>
            </a:r>
            <a:br>
              <a:rPr lang="ru-RU" sz="4000" dirty="0">
                <a:solidFill>
                  <a:prstClr val="black"/>
                </a:solidFill>
              </a:rPr>
            </a:b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807391"/>
              </p:ext>
            </p:extLst>
          </p:nvPr>
        </p:nvGraphicFramePr>
        <p:xfrm>
          <a:off x="1259632" y="1556792"/>
          <a:ext cx="5765055" cy="365507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765055"/>
              </a:tblGrid>
              <a:tr h="6680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dirty="0">
                          <a:solidFill>
                            <a:schemeClr val="tx2"/>
                          </a:solidFill>
                          <a:effectLst/>
                        </a:rPr>
                        <a:t>Предполагаемый результат</a:t>
                      </a:r>
                      <a:endParaRPr lang="ru-RU" sz="2800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  <a:tr h="20041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dirty="0">
                          <a:solidFill>
                            <a:schemeClr val="tx2"/>
                          </a:solidFill>
                          <a:effectLst/>
                        </a:rPr>
                        <a:t>Формирование благоприятного микроклимата на уроке, снижение уровня психологических и физиологических проблем со здоровьем у учащихся за счёт реализации   </a:t>
                      </a:r>
                      <a:r>
                        <a:rPr lang="ru-RU" sz="2800" dirty="0" err="1">
                          <a:solidFill>
                            <a:schemeClr val="tx2"/>
                          </a:solidFill>
                          <a:effectLst/>
                        </a:rPr>
                        <a:t>здоровьесберегающей</a:t>
                      </a:r>
                      <a:r>
                        <a:rPr lang="ru-RU" sz="2800" dirty="0">
                          <a:solidFill>
                            <a:schemeClr val="tx2"/>
                          </a:solidFill>
                          <a:effectLst/>
                        </a:rPr>
                        <a:t> технологии.</a:t>
                      </a:r>
                      <a:endParaRPr lang="ru-RU" sz="2800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67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764704"/>
            <a:ext cx="69127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85192" y="764704"/>
            <a:ext cx="8229600" cy="833110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latin typeface="Comic Sans MS" pitchFamily="66" charset="0"/>
              </a:rPr>
              <a:t>рефлексия </a:t>
            </a:r>
            <a:r>
              <a:rPr lang="ru-RU" sz="3100" b="1" dirty="0">
                <a:solidFill>
                  <a:srgbClr val="FF3300"/>
                </a:solidFill>
                <a:latin typeface="Comic Sans MS" pitchFamily="66" charset="0"/>
              </a:rPr>
              <a:t>настроения и </a:t>
            </a:r>
            <a:r>
              <a:rPr lang="ru-RU" sz="3100" b="1" dirty="0" smtClean="0">
                <a:solidFill>
                  <a:srgbClr val="FF3300"/>
                </a:solidFill>
                <a:latin typeface="Comic Sans MS" pitchFamily="66" charset="0"/>
              </a:rPr>
              <a:t/>
            </a:r>
            <a:br>
              <a:rPr lang="ru-RU" sz="3100" b="1" dirty="0" smtClean="0">
                <a:solidFill>
                  <a:srgbClr val="FF3300"/>
                </a:solidFill>
                <a:latin typeface="Comic Sans MS" pitchFamily="66" charset="0"/>
              </a:rPr>
            </a:br>
            <a:r>
              <a:rPr lang="ru-RU" sz="3100" b="1" dirty="0" smtClean="0">
                <a:solidFill>
                  <a:srgbClr val="FF3300"/>
                </a:solidFill>
                <a:latin typeface="Comic Sans MS" pitchFamily="66" charset="0"/>
              </a:rPr>
              <a:t>эмоционального </a:t>
            </a:r>
            <a:r>
              <a:rPr lang="ru-RU" sz="3100" b="1" dirty="0">
                <a:solidFill>
                  <a:srgbClr val="FF3300"/>
                </a:solidFill>
                <a:latin typeface="Comic Sans MS" pitchFamily="66" charset="0"/>
              </a:rPr>
              <a:t>состояния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11560" y="1700808"/>
            <a:ext cx="4038600" cy="4525963"/>
          </a:xfrm>
        </p:spPr>
        <p:txBody>
          <a:bodyPr>
            <a:normAutofit/>
          </a:bodyPr>
          <a:lstStyle/>
          <a:p>
            <a:r>
              <a:rPr lang="ru-RU" dirty="0" smtClean="0"/>
              <a:t>мишень настроения</a:t>
            </a:r>
            <a:endParaRPr lang="ru-RU" dirty="0"/>
          </a:p>
          <a:p>
            <a:r>
              <a:rPr lang="ru-RU" dirty="0"/>
              <a:t>букет </a:t>
            </a:r>
            <a:r>
              <a:rPr lang="ru-RU" dirty="0" smtClean="0"/>
              <a:t>настроения</a:t>
            </a:r>
            <a:endParaRPr lang="ru-RU" dirty="0"/>
          </a:p>
          <a:p>
            <a:r>
              <a:rPr lang="ru-RU" dirty="0"/>
              <a:t>дерево </a:t>
            </a:r>
            <a:r>
              <a:rPr lang="ru-RU" dirty="0" smtClean="0"/>
              <a:t>чувств</a:t>
            </a:r>
            <a:endParaRPr lang="ru-RU" dirty="0"/>
          </a:p>
          <a:p>
            <a:r>
              <a:rPr lang="ru-RU" dirty="0" smtClean="0"/>
              <a:t>музыкальный фрагмент </a:t>
            </a:r>
            <a:endParaRPr lang="ru-RU" dirty="0"/>
          </a:p>
          <a:p>
            <a:r>
              <a:rPr lang="ru-RU" dirty="0" smtClean="0"/>
              <a:t>солнышко, тучка, луна 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788024" y="1844824"/>
            <a:ext cx="4038600" cy="4237931"/>
          </a:xfrm>
        </p:spPr>
        <p:txBody>
          <a:bodyPr>
            <a:normAutofit/>
          </a:bodyPr>
          <a:lstStyle/>
          <a:p>
            <a:r>
              <a:rPr lang="ru-RU" dirty="0" smtClean="0"/>
              <a:t>светофор </a:t>
            </a:r>
            <a:endParaRPr lang="ru-RU" dirty="0"/>
          </a:p>
          <a:p>
            <a:r>
              <a:rPr lang="ru-RU" dirty="0" smtClean="0"/>
              <a:t>смайлики                                                                                   </a:t>
            </a:r>
            <a:endParaRPr lang="ru-RU" dirty="0"/>
          </a:p>
          <a:p>
            <a:r>
              <a:rPr lang="ru-RU" dirty="0"/>
              <a:t>показ большого пальца вверх или </a:t>
            </a:r>
            <a:r>
              <a:rPr lang="ru-RU" dirty="0" smtClean="0"/>
              <a:t>вниз  </a:t>
            </a:r>
            <a:endParaRPr lang="ru-RU" dirty="0"/>
          </a:p>
          <a:p>
            <a:r>
              <a:rPr lang="ru-RU" dirty="0" smtClean="0"/>
              <a:t>гномики</a:t>
            </a:r>
          </a:p>
          <a:p>
            <a:r>
              <a:rPr lang="ru-RU" dirty="0" smtClean="0"/>
              <a:t>маятник настроения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0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764704"/>
            <a:ext cx="69127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864096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Comic Sans MS" pitchFamily="66" charset="0"/>
              </a:rPr>
              <a:t>рефлексия </a:t>
            </a:r>
            <a:r>
              <a:rPr lang="ru-RU" sz="3200" b="1" dirty="0">
                <a:solidFill>
                  <a:srgbClr val="FF3300"/>
                </a:solidFill>
                <a:latin typeface="Comic Sans MS" pitchFamily="66" charset="0"/>
              </a:rPr>
              <a:t>настроения и </a:t>
            </a:r>
            <a:r>
              <a:rPr lang="ru-RU" sz="3200" b="1" dirty="0" smtClean="0">
                <a:solidFill>
                  <a:srgbClr val="FF3300"/>
                </a:solidFill>
                <a:latin typeface="Comic Sans MS" pitchFamily="66" charset="0"/>
              </a:rPr>
              <a:t/>
            </a:r>
            <a:br>
              <a:rPr lang="ru-RU" sz="3200" b="1" dirty="0" smtClean="0">
                <a:solidFill>
                  <a:srgbClr val="FF3300"/>
                </a:solidFill>
                <a:latin typeface="Comic Sans MS" pitchFamily="66" charset="0"/>
              </a:rPr>
            </a:br>
            <a:r>
              <a:rPr lang="ru-RU" sz="3200" b="1" dirty="0" smtClean="0">
                <a:solidFill>
                  <a:srgbClr val="FF3300"/>
                </a:solidFill>
                <a:latin typeface="Comic Sans MS" pitchFamily="66" charset="0"/>
              </a:rPr>
              <a:t>эмоционального </a:t>
            </a:r>
            <a:r>
              <a:rPr lang="ru-RU" sz="3200" b="1" dirty="0">
                <a:solidFill>
                  <a:srgbClr val="FF3300"/>
                </a:solidFill>
                <a:latin typeface="Comic Sans MS" pitchFamily="66" charset="0"/>
              </a:rPr>
              <a:t>состояния</a:t>
            </a:r>
            <a:r>
              <a:rPr lang="ru-RU" sz="3200" dirty="0"/>
              <a:t/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гномики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солнышко, тучка, луна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439" y="2708920"/>
            <a:ext cx="3459914" cy="23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08920"/>
            <a:ext cx="3456304" cy="23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151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</p:spPr>
        <p:txBody>
          <a:bodyPr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ru-RU" sz="3600" b="1" dirty="0">
                <a:solidFill>
                  <a:prstClr val="black"/>
                </a:solidFill>
                <a:latin typeface="Comic Sans MS" pitchFamily="66" charset="0"/>
                <a:ea typeface="+mn-ea"/>
                <a:cs typeface="+mn-cs"/>
              </a:rPr>
              <a:t>рефлексия </a:t>
            </a:r>
            <a:r>
              <a:rPr lang="ru-RU" sz="3600" b="1" dirty="0">
                <a:solidFill>
                  <a:srgbClr val="1F497D"/>
                </a:solidFill>
                <a:latin typeface="Comic Sans MS" pitchFamily="66" charset="0"/>
                <a:ea typeface="+mn-ea"/>
                <a:cs typeface="+mn-cs"/>
              </a:rPr>
              <a:t>деятельности</a:t>
            </a:r>
            <a:r>
              <a:rPr lang="ru-RU" sz="2800" b="1" dirty="0">
                <a:solidFill>
                  <a:srgbClr val="92D050"/>
                </a:solidFill>
                <a:latin typeface="Comic Sans MS" pitchFamily="66" charset="0"/>
                <a:ea typeface="+mn-ea"/>
                <a:cs typeface="+mn-cs"/>
              </a:rPr>
              <a:t>;</a:t>
            </a:r>
            <a:br>
              <a:rPr lang="ru-RU" sz="2800" b="1" dirty="0">
                <a:solidFill>
                  <a:srgbClr val="92D050"/>
                </a:solidFill>
                <a:latin typeface="Comic Sans MS" pitchFamily="66" charset="0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ru-RU" sz="2800" dirty="0" smtClean="0">
                <a:latin typeface="Times New Roman"/>
                <a:ea typeface="Times New Roman"/>
              </a:rPr>
              <a:t>Предполагаемый результат:</a:t>
            </a:r>
          </a:p>
          <a:p>
            <a:pPr>
              <a:spcAft>
                <a:spcPts val="0"/>
              </a:spcAft>
            </a:pPr>
            <a:r>
              <a:rPr lang="ru-RU" sz="2800" dirty="0" smtClean="0">
                <a:latin typeface="Times New Roman"/>
                <a:ea typeface="Times New Roman"/>
              </a:rPr>
              <a:t>Рост </a:t>
            </a:r>
            <a:r>
              <a:rPr lang="ru-RU" sz="2800" dirty="0">
                <a:latin typeface="Times New Roman"/>
                <a:ea typeface="Times New Roman"/>
              </a:rPr>
              <a:t>мотивации учения и развитие умения определять степень достижения цели. Учащиеся выходят на более высокий уровень осмысления способов и приемов своей работы, проявляют умение работать в разных режимах (индивидуальном, коллективном, групповом).</a:t>
            </a:r>
          </a:p>
          <a:p>
            <a:r>
              <a:rPr lang="ru-RU" sz="2800" dirty="0">
                <a:latin typeface="Times New Roman"/>
                <a:ea typeface="Times New Roman"/>
              </a:rPr>
              <a:t>Рост активности каждого учащегося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5634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92088"/>
          </a:xfrm>
        </p:spPr>
        <p:txBody>
          <a:bodyPr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ru-RU" sz="3600" b="1" dirty="0">
                <a:solidFill>
                  <a:prstClr val="black"/>
                </a:solidFill>
                <a:latin typeface="Comic Sans MS" pitchFamily="66" charset="0"/>
                <a:ea typeface="+mn-ea"/>
                <a:cs typeface="+mn-cs"/>
              </a:rPr>
              <a:t>рефлексия </a:t>
            </a:r>
            <a:r>
              <a:rPr lang="ru-RU" sz="3600" b="1" dirty="0">
                <a:solidFill>
                  <a:srgbClr val="1F497D"/>
                </a:solidFill>
                <a:latin typeface="Comic Sans MS" pitchFamily="66" charset="0"/>
                <a:ea typeface="+mn-ea"/>
                <a:cs typeface="+mn-cs"/>
              </a:rPr>
              <a:t>деятельности</a:t>
            </a:r>
            <a:r>
              <a:rPr lang="ru-RU" sz="2800" b="1" dirty="0">
                <a:solidFill>
                  <a:srgbClr val="92D050"/>
                </a:solidFill>
                <a:latin typeface="Comic Sans MS" pitchFamily="66" charset="0"/>
                <a:ea typeface="+mn-ea"/>
                <a:cs typeface="+mn-cs"/>
              </a:rPr>
              <a:t>;</a:t>
            </a:r>
            <a:br>
              <a:rPr lang="ru-RU" sz="2800" b="1" dirty="0">
                <a:solidFill>
                  <a:srgbClr val="92D050"/>
                </a:solidFill>
                <a:latin typeface="Comic Sans MS" pitchFamily="66" charset="0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лесенка </a:t>
            </a:r>
            <a:r>
              <a:rPr lang="ru-RU" dirty="0" smtClean="0"/>
              <a:t>успеха</a:t>
            </a:r>
            <a:endParaRPr lang="ru-RU" dirty="0"/>
          </a:p>
          <a:p>
            <a:r>
              <a:rPr lang="ru-RU" dirty="0" smtClean="0"/>
              <a:t>дерево достижений</a:t>
            </a:r>
          </a:p>
          <a:p>
            <a:r>
              <a:rPr lang="ru-RU" dirty="0" smtClean="0"/>
              <a:t>яблоня</a:t>
            </a:r>
          </a:p>
          <a:p>
            <a:r>
              <a:rPr lang="ru-RU" dirty="0" smtClean="0"/>
              <a:t>поезд</a:t>
            </a:r>
          </a:p>
          <a:p>
            <a:r>
              <a:rPr lang="ru-RU" dirty="0" smtClean="0"/>
              <a:t>острова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роли</a:t>
            </a:r>
          </a:p>
          <a:p>
            <a:r>
              <a:rPr lang="ru-RU" dirty="0" smtClean="0"/>
              <a:t>комплимент</a:t>
            </a:r>
          </a:p>
          <a:p>
            <a:r>
              <a:rPr lang="ru-RU" dirty="0" smtClean="0"/>
              <a:t>наряди елку</a:t>
            </a:r>
          </a:p>
          <a:p>
            <a:r>
              <a:rPr lang="ru-RU" dirty="0" smtClean="0"/>
              <a:t>дерево успеха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675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prstClr val="black"/>
                </a:solidFill>
                <a:latin typeface="Comic Sans MS" pitchFamily="66" charset="0"/>
              </a:rPr>
              <a:t>рефлексия </a:t>
            </a:r>
            <a:r>
              <a:rPr lang="ru-RU" sz="3200" b="1" dirty="0">
                <a:solidFill>
                  <a:srgbClr val="1F497D"/>
                </a:solidFill>
                <a:latin typeface="Comic Sans MS" pitchFamily="66" charset="0"/>
              </a:rPr>
              <a:t>деятельности</a:t>
            </a:r>
            <a:r>
              <a:rPr lang="ru-RU" sz="2500" b="1" dirty="0">
                <a:solidFill>
                  <a:srgbClr val="92D050"/>
                </a:solidFill>
                <a:latin typeface="Comic Sans MS" pitchFamily="66" charset="0"/>
              </a:rPr>
              <a:t>;</a:t>
            </a:r>
            <a:br>
              <a:rPr lang="ru-RU" sz="2500" b="1" dirty="0">
                <a:solidFill>
                  <a:srgbClr val="92D050"/>
                </a:solidFill>
                <a:latin typeface="Comic Sans MS" pitchFamily="66" charset="0"/>
              </a:rPr>
            </a:b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611560" y="1600200"/>
            <a:ext cx="3884240" cy="4525963"/>
          </a:xfrm>
        </p:spPr>
        <p:txBody>
          <a:bodyPr/>
          <a:lstStyle/>
          <a:p>
            <a:pPr algn="ctr"/>
            <a:r>
              <a:rPr lang="ru-RU" dirty="0"/>
              <a:t>Острова</a:t>
            </a:r>
          </a:p>
          <a:p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ru-RU" dirty="0" smtClean="0"/>
              <a:t>Поезд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482312"/>
            <a:ext cx="3312368" cy="2206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32856"/>
            <a:ext cx="2280571" cy="3431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511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prstClr val="black"/>
                </a:solidFill>
                <a:latin typeface="Comic Sans MS" pitchFamily="66" charset="0"/>
                <a:ea typeface="+mn-ea"/>
                <a:cs typeface="+mn-cs"/>
              </a:rPr>
              <a:t>рефлексия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содержания </a:t>
            </a: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/>
            </a:r>
            <a:b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</a:b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учебного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материала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4294967295"/>
          </p:nvPr>
        </p:nvSpPr>
        <p:spPr>
          <a:xfrm>
            <a:off x="5105400" y="1600200"/>
            <a:ext cx="4038600" cy="4525963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19197"/>
              </p:ext>
            </p:extLst>
          </p:nvPr>
        </p:nvGraphicFramePr>
        <p:xfrm>
          <a:off x="755576" y="1628799"/>
          <a:ext cx="7200800" cy="4267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200800"/>
              </a:tblGrid>
              <a:tr h="38351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Рост уровня осознания содержания пройденного материала.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Развитие речи учащихся ( речь становится более яркой, выразительной, образной, насыщенной).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Учащиеся размышляют, не бояться выражать свое отношение к проблеме, сами ставят цели, осмысливают то, что поняли, усвоили.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Информацию могут передавать в более сжатой форме, выявляя основное. Могут рефлектировать в письменной форме, более подробно излагая свои мысли.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Формирование и развитие новых способов  самовыражения учащихся.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Повышение мотивации учения, получения  новых знаний.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Рост активности каждого учащегося.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ru-RU" sz="2000" dirty="0">
                        <a:solidFill>
                          <a:schemeClr val="tx2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09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prstClr val="black"/>
                </a:solidFill>
                <a:latin typeface="Comic Sans MS" pitchFamily="66" charset="0"/>
                <a:ea typeface="+mn-ea"/>
                <a:cs typeface="+mn-cs"/>
              </a:rPr>
              <a:t>рефлексия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содержания </a:t>
            </a: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/>
            </a:r>
            <a:b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</a:b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учебного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материала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незаконченное </a:t>
            </a:r>
            <a:r>
              <a:rPr lang="ru-RU" dirty="0" smtClean="0"/>
              <a:t>предложение </a:t>
            </a:r>
            <a:endParaRPr lang="ru-RU" dirty="0"/>
          </a:p>
          <a:p>
            <a:r>
              <a:rPr lang="ru-RU" dirty="0"/>
              <a:t>выбор </a:t>
            </a:r>
            <a:r>
              <a:rPr lang="ru-RU" dirty="0" smtClean="0"/>
              <a:t>афоризма</a:t>
            </a:r>
            <a:endParaRPr lang="ru-RU" dirty="0"/>
          </a:p>
          <a:p>
            <a:r>
              <a:rPr lang="ru-RU" dirty="0"/>
              <a:t>точка </a:t>
            </a:r>
            <a:r>
              <a:rPr lang="ru-RU" dirty="0" smtClean="0"/>
              <a:t>зрения </a:t>
            </a:r>
            <a:endParaRPr lang="ru-RU" dirty="0"/>
          </a:p>
          <a:p>
            <a:r>
              <a:rPr lang="ru-RU" dirty="0" smtClean="0"/>
              <a:t>плюс-минус-интересно</a:t>
            </a:r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пять пальцев </a:t>
            </a:r>
            <a:endParaRPr lang="ru-RU" dirty="0"/>
          </a:p>
          <a:p>
            <a:r>
              <a:rPr lang="ru-RU" dirty="0" err="1" smtClean="0"/>
              <a:t>фишбоун</a:t>
            </a:r>
            <a:r>
              <a:rPr lang="ru-RU" dirty="0" smtClean="0"/>
              <a:t> </a:t>
            </a:r>
            <a:endParaRPr lang="ru-RU" dirty="0"/>
          </a:p>
          <a:p>
            <a:r>
              <a:rPr lang="ru-RU" dirty="0" smtClean="0"/>
              <a:t>кластер </a:t>
            </a:r>
            <a:endParaRPr lang="ru-RU" dirty="0"/>
          </a:p>
          <a:p>
            <a:r>
              <a:rPr lang="ru-RU" dirty="0" err="1" smtClean="0"/>
              <a:t>синквейн</a:t>
            </a:r>
            <a:endParaRPr lang="ru-RU" dirty="0"/>
          </a:p>
          <a:p>
            <a:pPr>
              <a:buFontTx/>
              <a:buChar char="•"/>
            </a:pPr>
            <a:r>
              <a:rPr lang="ru-RU" dirty="0" smtClean="0"/>
              <a:t>З-Х-У </a:t>
            </a:r>
          </a:p>
          <a:p>
            <a:pPr>
              <a:buFontTx/>
              <a:buChar char="•"/>
            </a:pPr>
            <a:r>
              <a:rPr lang="ru-RU" dirty="0"/>
              <a:t>рюкзак</a:t>
            </a:r>
          </a:p>
          <a:p>
            <a:pPr>
              <a:buFontTx/>
              <a:buChar char="•"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067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prstClr val="black"/>
                </a:solidFill>
                <a:latin typeface="Comic Sans MS" pitchFamily="66" charset="0"/>
                <a:ea typeface="+mn-ea"/>
                <a:cs typeface="+mn-cs"/>
              </a:rPr>
              <a:t>рефлексия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содержания </a:t>
            </a: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/>
            </a:r>
            <a:b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</a:br>
            <a:r>
              <a:rPr lang="ru-RU" sz="2800" b="1" dirty="0" smtClean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учебного </a:t>
            </a:r>
            <a:r>
              <a:rPr lang="ru-RU" sz="2800" b="1" dirty="0">
                <a:solidFill>
                  <a:srgbClr val="009900"/>
                </a:solidFill>
                <a:latin typeface="Comic Sans MS" pitchFamily="66" charset="0"/>
                <a:ea typeface="+mn-ea"/>
                <a:cs typeface="+mn-cs"/>
              </a:rPr>
              <a:t>материала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1560" y="1340768"/>
            <a:ext cx="4038600" cy="4525963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ru-RU" dirty="0" smtClean="0"/>
              <a:t>З-Х-У 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73392"/>
              </p:ext>
            </p:extLst>
          </p:nvPr>
        </p:nvGraphicFramePr>
        <p:xfrm>
          <a:off x="611560" y="2924944"/>
          <a:ext cx="4392487" cy="1927216"/>
        </p:xfrm>
        <a:graphic>
          <a:graphicData uri="http://schemas.openxmlformats.org/drawingml/2006/table">
            <a:tbl>
              <a:tblPr/>
              <a:tblGrid>
                <a:gridCol w="1265632"/>
                <a:gridCol w="931093"/>
                <a:gridCol w="1097881"/>
                <a:gridCol w="1097881"/>
              </a:tblGrid>
              <a:tr h="873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Понятие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Знаю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Хочу узнать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Узнал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540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 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itchFamily="34" charset="0"/>
                        </a:rPr>
                        <a:t>Рефлексия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520825"/>
            <a:ext cx="36004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18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Box 6"/>
          <p:cNvSpPr txBox="1">
            <a:spLocks noChangeArrowheads="1"/>
          </p:cNvSpPr>
          <p:nvPr/>
        </p:nvSpPr>
        <p:spPr bwMode="auto">
          <a:xfrm>
            <a:off x="1112838" y="546100"/>
            <a:ext cx="7359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Comic Sans MS" pitchFamily="66" charset="0"/>
              </a:rPr>
              <a:t>Рефлексия на уроке 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238" y="1668463"/>
            <a:ext cx="7513637" cy="191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ru-RU" sz="2400" b="1" i="1">
                <a:latin typeface="Comic Sans MS" pitchFamily="66" charset="0"/>
              </a:rPr>
              <a:t>это совместная деятельность учащихся и учителя, позволяющая совершенствовать учебный процесс, ориентируясь на личность каждого ученика.</a:t>
            </a:r>
          </a:p>
          <a:p>
            <a:pPr algn="ctr"/>
            <a:endParaRPr lang="ru-RU" sz="2400" b="1" i="1">
              <a:solidFill>
                <a:srgbClr val="262626"/>
              </a:solidFill>
              <a:latin typeface="Comic Sans MS" pitchFamily="66" charset="0"/>
            </a:endParaRPr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E3EF597-E0F2-49BC-BF7F-6E82200483BD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54282" name="Picture 10" descr="clp747537"/>
          <p:cNvPicPr>
            <a:picLocks noChangeAspect="1" noChangeArrowheads="1"/>
          </p:cNvPicPr>
          <p:nvPr/>
        </p:nvPicPr>
        <p:blipFill>
          <a:blip r:embed="rId3"/>
          <a:srcRect l="-1721" t="14769" b="3394"/>
          <a:stretch>
            <a:fillRect/>
          </a:stretch>
        </p:blipFill>
        <p:spPr bwMode="auto">
          <a:xfrm>
            <a:off x="2736850" y="3219450"/>
            <a:ext cx="3851275" cy="30972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602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9632" y="1412776"/>
            <a:ext cx="712879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2"/>
                </a:solidFill>
              </a:rPr>
              <a:t>Рефлексия помогает обучающимся сформулировать получаемые результаты, переопределить цели дальнейшей работы, скорректировать свой образовательный путь. Без понимания способов своего учения, механизмов познания и </a:t>
            </a:r>
            <a:r>
              <a:rPr lang="ru-RU" sz="2400" b="1" dirty="0" err="1">
                <a:solidFill>
                  <a:schemeClr val="tx2"/>
                </a:solidFill>
              </a:rPr>
              <a:t>мыследеятельности</a:t>
            </a:r>
            <a:r>
              <a:rPr lang="ru-RU" sz="2400" b="1" dirty="0">
                <a:solidFill>
                  <a:schemeClr val="tx2"/>
                </a:solidFill>
              </a:rPr>
              <a:t>, учащиеся не смогут присвоить себе тех знаний, которые добыли.</a:t>
            </a:r>
          </a:p>
        </p:txBody>
      </p:sp>
    </p:spTree>
    <p:extLst>
      <p:ext uri="{BB962C8B-B14F-4D97-AF65-F5344CB8AC3E}">
        <p14:creationId xmlns:p14="http://schemas.microsoft.com/office/powerpoint/2010/main" val="335935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1028343"/>
            <a:ext cx="69127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2"/>
                </a:solidFill>
              </a:rPr>
              <a:t>Метод пяти пальцев </a:t>
            </a:r>
            <a:endParaRPr lang="ru-RU" sz="2000" b="1" dirty="0" smtClean="0">
              <a:solidFill>
                <a:schemeClr val="tx2"/>
              </a:solidFill>
            </a:endParaRPr>
          </a:p>
          <a:p>
            <a:r>
              <a:rPr lang="ru-RU" sz="2000" dirty="0" smtClean="0">
                <a:solidFill>
                  <a:schemeClr val="tx2"/>
                </a:solidFill>
              </a:rPr>
              <a:t>Ребенку </a:t>
            </a:r>
            <a:r>
              <a:rPr lang="ru-RU" sz="2000" dirty="0">
                <a:solidFill>
                  <a:schemeClr val="tx2"/>
                </a:solidFill>
              </a:rPr>
              <a:t>достаточно знать значения каждого пальца и перечислить, загибая их по очереди, следующие моменты: </a:t>
            </a:r>
          </a:p>
          <a:p>
            <a:r>
              <a:rPr lang="ru-RU" sz="2000" u="sng" dirty="0">
                <a:solidFill>
                  <a:schemeClr val="tx2"/>
                </a:solidFill>
              </a:rPr>
              <a:t>М</a:t>
            </a:r>
            <a:r>
              <a:rPr lang="ru-RU" sz="2000" dirty="0">
                <a:solidFill>
                  <a:schemeClr val="tx2"/>
                </a:solidFill>
              </a:rPr>
              <a:t> (</a:t>
            </a:r>
            <a:r>
              <a:rPr lang="ru-RU" sz="2000" u="sng" dirty="0">
                <a:solidFill>
                  <a:schemeClr val="tx2"/>
                </a:solidFill>
              </a:rPr>
              <a:t>м</a:t>
            </a:r>
            <a:r>
              <a:rPr lang="ru-RU" sz="2000" dirty="0">
                <a:solidFill>
                  <a:schemeClr val="tx2"/>
                </a:solidFill>
              </a:rPr>
              <a:t>изинец) – </a:t>
            </a:r>
            <a:r>
              <a:rPr lang="ru-RU" sz="2000" u="sng" dirty="0">
                <a:solidFill>
                  <a:schemeClr val="tx2"/>
                </a:solidFill>
              </a:rPr>
              <a:t>м</a:t>
            </a:r>
            <a:r>
              <a:rPr lang="ru-RU" sz="2000" dirty="0">
                <a:solidFill>
                  <a:schemeClr val="tx2"/>
                </a:solidFill>
              </a:rPr>
              <a:t>ышление. Какие знания, опыт я сегодня получил?</a:t>
            </a:r>
          </a:p>
          <a:p>
            <a:r>
              <a:rPr lang="ru-RU" sz="2000" u="sng" dirty="0">
                <a:solidFill>
                  <a:schemeClr val="tx2"/>
                </a:solidFill>
              </a:rPr>
              <a:t>Б </a:t>
            </a:r>
            <a:r>
              <a:rPr lang="ru-RU" sz="2000" dirty="0">
                <a:solidFill>
                  <a:schemeClr val="tx2"/>
                </a:solidFill>
              </a:rPr>
              <a:t>(</a:t>
            </a:r>
            <a:r>
              <a:rPr lang="ru-RU" sz="2000" u="sng" dirty="0">
                <a:solidFill>
                  <a:schemeClr val="tx2"/>
                </a:solidFill>
              </a:rPr>
              <a:t>б</a:t>
            </a:r>
            <a:r>
              <a:rPr lang="ru-RU" sz="2000" dirty="0">
                <a:solidFill>
                  <a:schemeClr val="tx2"/>
                </a:solidFill>
              </a:rPr>
              <a:t>езымянный) – </a:t>
            </a:r>
            <a:r>
              <a:rPr lang="ru-RU" sz="2000" u="sng" dirty="0">
                <a:solidFill>
                  <a:schemeClr val="tx2"/>
                </a:solidFill>
              </a:rPr>
              <a:t>б</a:t>
            </a:r>
            <a:r>
              <a:rPr lang="ru-RU" sz="2000" dirty="0">
                <a:solidFill>
                  <a:schemeClr val="tx2"/>
                </a:solidFill>
              </a:rPr>
              <a:t>лизость </a:t>
            </a:r>
            <a:r>
              <a:rPr lang="ru-RU" sz="2000" i="1" dirty="0">
                <a:solidFill>
                  <a:schemeClr val="tx2"/>
                </a:solidFill>
              </a:rPr>
              <a:t>цели</a:t>
            </a:r>
            <a:r>
              <a:rPr lang="ru-RU" sz="2000" dirty="0">
                <a:solidFill>
                  <a:schemeClr val="tx2"/>
                </a:solidFill>
              </a:rPr>
              <a:t>. Что я сегодня делал и чего достиг?</a:t>
            </a:r>
          </a:p>
          <a:p>
            <a:r>
              <a:rPr lang="ru-RU" sz="2000" u="sng" dirty="0">
                <a:solidFill>
                  <a:schemeClr val="tx2"/>
                </a:solidFill>
              </a:rPr>
              <a:t>С</a:t>
            </a:r>
            <a:r>
              <a:rPr lang="ru-RU" sz="2000" dirty="0">
                <a:solidFill>
                  <a:schemeClr val="tx2"/>
                </a:solidFill>
              </a:rPr>
              <a:t> (</a:t>
            </a:r>
            <a:r>
              <a:rPr lang="ru-RU" sz="2000" u="sng" dirty="0">
                <a:solidFill>
                  <a:schemeClr val="tx2"/>
                </a:solidFill>
              </a:rPr>
              <a:t>с</a:t>
            </a:r>
            <a:r>
              <a:rPr lang="ru-RU" sz="2000" dirty="0">
                <a:solidFill>
                  <a:schemeClr val="tx2"/>
                </a:solidFill>
              </a:rPr>
              <a:t>редний) – </a:t>
            </a:r>
            <a:r>
              <a:rPr lang="ru-RU" sz="2000" u="sng" dirty="0">
                <a:solidFill>
                  <a:schemeClr val="tx2"/>
                </a:solidFill>
              </a:rPr>
              <a:t>с</a:t>
            </a:r>
            <a:r>
              <a:rPr lang="ru-RU" sz="2000" dirty="0">
                <a:solidFill>
                  <a:schemeClr val="tx2"/>
                </a:solidFill>
              </a:rPr>
              <a:t>остояние </a:t>
            </a:r>
            <a:r>
              <a:rPr lang="ru-RU" sz="2000" i="1" dirty="0">
                <a:solidFill>
                  <a:schemeClr val="tx2"/>
                </a:solidFill>
              </a:rPr>
              <a:t>духа, настроения</a:t>
            </a:r>
            <a:r>
              <a:rPr lang="ru-RU" sz="2000" dirty="0">
                <a:solidFill>
                  <a:schemeClr val="tx2"/>
                </a:solidFill>
              </a:rPr>
              <a:t>. Каким было моё эмоциональное состояние?</a:t>
            </a:r>
          </a:p>
          <a:p>
            <a:r>
              <a:rPr lang="ru-RU" sz="2000" u="sng" dirty="0">
                <a:solidFill>
                  <a:schemeClr val="tx2"/>
                </a:solidFill>
              </a:rPr>
              <a:t>У</a:t>
            </a:r>
            <a:r>
              <a:rPr lang="ru-RU" sz="2000" dirty="0">
                <a:solidFill>
                  <a:schemeClr val="tx2"/>
                </a:solidFill>
              </a:rPr>
              <a:t> (</a:t>
            </a:r>
            <a:r>
              <a:rPr lang="ru-RU" sz="2000" u="sng" dirty="0">
                <a:solidFill>
                  <a:schemeClr val="tx2"/>
                </a:solidFill>
              </a:rPr>
              <a:t>у</a:t>
            </a:r>
            <a:r>
              <a:rPr lang="ru-RU" sz="2000" dirty="0">
                <a:solidFill>
                  <a:schemeClr val="tx2"/>
                </a:solidFill>
              </a:rPr>
              <a:t>казательный) – </a:t>
            </a:r>
            <a:r>
              <a:rPr lang="ru-RU" sz="2000" u="sng" dirty="0">
                <a:solidFill>
                  <a:schemeClr val="tx2"/>
                </a:solidFill>
              </a:rPr>
              <a:t>у</a:t>
            </a:r>
            <a:r>
              <a:rPr lang="ru-RU" sz="2000" dirty="0">
                <a:solidFill>
                  <a:schemeClr val="tx2"/>
                </a:solidFill>
              </a:rPr>
              <a:t>слуга, </a:t>
            </a:r>
            <a:r>
              <a:rPr lang="ru-RU" sz="2000" i="1" dirty="0">
                <a:solidFill>
                  <a:schemeClr val="tx2"/>
                </a:solidFill>
              </a:rPr>
              <a:t>помощь</a:t>
            </a:r>
            <a:r>
              <a:rPr lang="ru-RU" sz="2000" dirty="0">
                <a:solidFill>
                  <a:schemeClr val="tx2"/>
                </a:solidFill>
              </a:rPr>
              <a:t>. Чем я сегодня помог, чем порадовал или чему поспособствовал?</a:t>
            </a:r>
          </a:p>
          <a:p>
            <a:r>
              <a:rPr lang="ru-RU" sz="2000" u="sng" dirty="0">
                <a:solidFill>
                  <a:schemeClr val="tx2"/>
                </a:solidFill>
              </a:rPr>
              <a:t>Б</a:t>
            </a:r>
            <a:r>
              <a:rPr lang="ru-RU" sz="2000" dirty="0">
                <a:solidFill>
                  <a:schemeClr val="tx2"/>
                </a:solidFill>
              </a:rPr>
              <a:t> (</a:t>
            </a:r>
            <a:r>
              <a:rPr lang="ru-RU" sz="2000" u="sng" dirty="0">
                <a:solidFill>
                  <a:schemeClr val="tx2"/>
                </a:solidFill>
              </a:rPr>
              <a:t>б</a:t>
            </a:r>
            <a:r>
              <a:rPr lang="ru-RU" sz="2000" dirty="0">
                <a:solidFill>
                  <a:schemeClr val="tx2"/>
                </a:solidFill>
              </a:rPr>
              <a:t>ольшой) – </a:t>
            </a:r>
            <a:r>
              <a:rPr lang="ru-RU" sz="2000" u="sng" dirty="0">
                <a:solidFill>
                  <a:schemeClr val="tx2"/>
                </a:solidFill>
              </a:rPr>
              <a:t>б</a:t>
            </a:r>
            <a:r>
              <a:rPr lang="ru-RU" sz="2000" dirty="0">
                <a:solidFill>
                  <a:schemeClr val="tx2"/>
                </a:solidFill>
              </a:rPr>
              <a:t>одрость, </a:t>
            </a:r>
            <a:r>
              <a:rPr lang="ru-RU" sz="2000" i="1" dirty="0">
                <a:solidFill>
                  <a:schemeClr val="tx2"/>
                </a:solidFill>
              </a:rPr>
              <a:t>здоровье</a:t>
            </a:r>
            <a:r>
              <a:rPr lang="ru-RU" sz="2000" dirty="0">
                <a:solidFill>
                  <a:schemeClr val="tx2"/>
                </a:solidFill>
              </a:rPr>
              <a:t>. Каким было моё физическое состояние? Что я сделал для своего здоровья?</a:t>
            </a:r>
          </a:p>
        </p:txBody>
      </p:sp>
    </p:spTree>
    <p:extLst>
      <p:ext uri="{BB962C8B-B14F-4D97-AF65-F5344CB8AC3E}">
        <p14:creationId xmlns:p14="http://schemas.microsoft.com/office/powerpoint/2010/main" val="284341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434975" y="363538"/>
            <a:ext cx="8202613" cy="936625"/>
          </a:xfrm>
          <a:prstGeom prst="roundRect">
            <a:avLst/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2227" name="TextBox 6"/>
          <p:cNvSpPr txBox="1">
            <a:spLocks noChangeArrowheads="1"/>
          </p:cNvSpPr>
          <p:nvPr/>
        </p:nvSpPr>
        <p:spPr bwMode="auto">
          <a:xfrm>
            <a:off x="1112838" y="546100"/>
            <a:ext cx="7359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b="1">
                <a:solidFill>
                  <a:schemeClr val="hlink"/>
                </a:solidFill>
                <a:latin typeface="Comic Sans MS" pitchFamily="66" charset="0"/>
              </a:rPr>
              <a:t>Список литературы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34975" y="1519238"/>
            <a:ext cx="8202613" cy="4837112"/>
          </a:xfrm>
          <a:prstGeom prst="roundRect">
            <a:avLst>
              <a:gd name="adj" fmla="val 1639"/>
            </a:avLst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46100" y="1625600"/>
            <a:ext cx="8062913" cy="42116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b="1"/>
              <a:t>Загашев И.О., Заир – Бек С.И., Муштавинская И.В.</a:t>
            </a:r>
            <a:r>
              <a:rPr lang="ru-RU"/>
              <a:t> Учим детей мыслить критически. - СПб издательство «Речь», 2003 г.</a:t>
            </a:r>
            <a:endParaRPr lang="ru-RU" b="1"/>
          </a:p>
          <a:p>
            <a:pPr marL="342900" indent="-342900">
              <a:buFontTx/>
              <a:buAutoNum type="arabicPeriod"/>
            </a:pPr>
            <a:r>
              <a:rPr lang="ru-RU" b="1"/>
              <a:t>Заир- Бек С.И., Муштавинская И.В.</a:t>
            </a:r>
            <a:r>
              <a:rPr lang="ru-RU"/>
              <a:t> Развитие критического мышления на уроке. – М.: Просвещение, 2011. -224 с.</a:t>
            </a:r>
          </a:p>
          <a:p>
            <a:pPr marL="342900" indent="-342900">
              <a:buFontTx/>
              <a:buAutoNum type="arabicPeriod"/>
            </a:pPr>
            <a:r>
              <a:rPr lang="ru-RU"/>
              <a:t>Каким должен быть современный урок. </a:t>
            </a:r>
            <a:r>
              <a:rPr lang="en-US">
                <a:hlinkClick r:id="rId3"/>
              </a:rPr>
              <a:t>http</a:t>
            </a:r>
            <a:r>
              <a:rPr lang="ru-RU">
                <a:hlinkClick r:id="rId3"/>
              </a:rPr>
              <a:t>://</a:t>
            </a:r>
            <a:r>
              <a:rPr lang="en-US">
                <a:hlinkClick r:id="rId3"/>
              </a:rPr>
              <a:t>www</a:t>
            </a:r>
            <a:r>
              <a:rPr lang="ru-RU">
                <a:hlinkClick r:id="rId3"/>
              </a:rPr>
              <a:t>.</a:t>
            </a:r>
            <a:r>
              <a:rPr lang="en-US">
                <a:hlinkClick r:id="rId3"/>
              </a:rPr>
              <a:t>it</a:t>
            </a:r>
            <a:r>
              <a:rPr lang="ru-RU">
                <a:hlinkClick r:id="rId3"/>
              </a:rPr>
              <a:t>-</a:t>
            </a:r>
            <a:r>
              <a:rPr lang="en-US">
                <a:hlinkClick r:id="rId3"/>
              </a:rPr>
              <a:t>n</a:t>
            </a:r>
            <a:r>
              <a:rPr lang="ru-RU">
                <a:hlinkClick r:id="rId3"/>
              </a:rPr>
              <a:t>.</a:t>
            </a:r>
            <a:r>
              <a:rPr lang="en-US">
                <a:hlinkClick r:id="rId3"/>
              </a:rPr>
              <a:t>ru</a:t>
            </a:r>
            <a:r>
              <a:rPr lang="ru-RU"/>
              <a:t>.</a:t>
            </a:r>
          </a:p>
          <a:p>
            <a:pPr marL="342900" indent="-342900">
              <a:buFontTx/>
              <a:buAutoNum type="arabicPeriod"/>
            </a:pPr>
            <a:r>
              <a:rPr lang="ru-RU"/>
              <a:t>Как проектировать универсальные учебные действия в начальной школе. От действия к мысли: пособие для учителя / (А. Г. Асмолов, Г. В. Бурменская, И. А. Володарская и др.) Под ред. А.Г. Асмолова. М.: Просвещение, 2011. </a:t>
            </a:r>
            <a:endParaRPr lang="ru-RU" b="1"/>
          </a:p>
          <a:p>
            <a:pPr marL="342900" indent="-342900">
              <a:buFontTx/>
              <a:buAutoNum type="arabicPeriod"/>
            </a:pPr>
            <a:r>
              <a:rPr lang="ru-RU" b="1"/>
              <a:t>Хуторской А.В.</a:t>
            </a:r>
            <a:r>
              <a:rPr lang="ru-RU"/>
              <a:t> Что такое современный урок // Интернет-журнал "Эйдос". - 2012. -№2. </a:t>
            </a:r>
            <a:r>
              <a:rPr lang="ru-RU">
                <a:hlinkClick r:id="rId4"/>
              </a:rPr>
              <a:t>http://eidos.ru/journal/2012/0529-10.htm</a:t>
            </a:r>
            <a:r>
              <a:rPr lang="ru-RU"/>
              <a:t>   - Центр дистанционного образования "Эйдос". </a:t>
            </a:r>
            <a:endParaRPr lang="ru-RU" b="1"/>
          </a:p>
          <a:p>
            <a:pPr marL="342900" indent="-342900">
              <a:buFontTx/>
              <a:buAutoNum type="arabicPeriod"/>
            </a:pPr>
            <a:r>
              <a:rPr lang="ru-RU" b="1"/>
              <a:t>Хуторской А.В.</a:t>
            </a:r>
            <a:r>
              <a:rPr lang="ru-RU"/>
              <a:t> Модель системно-деятельностного обучения и самореализации учащихся // Интернет-журнал "Эйдос". - 2012. -№2.    </a:t>
            </a:r>
            <a:r>
              <a:rPr lang="ru-RU">
                <a:hlinkClick r:id="rId5"/>
              </a:rPr>
              <a:t>http://www.eidos.ru/journal/2012/0329-10.htm</a:t>
            </a:r>
            <a:r>
              <a:rPr lang="ru-RU"/>
              <a:t>.</a:t>
            </a:r>
          </a:p>
        </p:txBody>
      </p:sp>
      <p:sp>
        <p:nvSpPr>
          <p:cNvPr id="9" name="Номер слайда 8"/>
          <p:cNvSpPr txBox="1">
            <a:spLocks noGrp="1"/>
          </p:cNvSpPr>
          <p:nvPr/>
        </p:nvSpPr>
        <p:spPr>
          <a:xfrm>
            <a:off x="6513513" y="6002338"/>
            <a:ext cx="20574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74B587B-1088-4F01-91AA-4D401C1F6BEE}" type="slidenum">
              <a:rPr lang="ru-RU"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ru-RU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15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8168" y="2276872"/>
            <a:ext cx="6907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Спасибо за внимание!</a:t>
            </a:r>
            <a:endParaRPr lang="ru-RU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3667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1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2D050"/>
      </a:hlink>
      <a:folHlink>
        <a:srgbClr val="76923C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680</Words>
  <Application>Microsoft Office PowerPoint</Application>
  <PresentationFormat>Экран (4:3)</PresentationFormat>
  <Paragraphs>133</Paragraphs>
  <Slides>20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рефлексия настроения и  эмоционального состояния </vt:lpstr>
      <vt:lpstr>рефлексия настроения и  эмоционального состояния </vt:lpstr>
      <vt:lpstr>рефлексия настроения и  эмоционального состояния </vt:lpstr>
      <vt:lpstr>рефлексия деятельности; </vt:lpstr>
      <vt:lpstr>рефлексия деятельности; </vt:lpstr>
      <vt:lpstr>рефлексия деятельности; </vt:lpstr>
      <vt:lpstr>рефлексия содержания  учебного материала</vt:lpstr>
      <vt:lpstr>рефлексия содержания  учебного материала</vt:lpstr>
      <vt:lpstr>рефлексия содержания  учебного материала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47</cp:revision>
  <dcterms:created xsi:type="dcterms:W3CDTF">2014-07-07T16:28:21Z</dcterms:created>
  <dcterms:modified xsi:type="dcterms:W3CDTF">2020-01-04T12:24:04Z</dcterms:modified>
</cp:coreProperties>
</file>