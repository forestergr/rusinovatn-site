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3" r:id="rId2"/>
    <p:sldId id="352" r:id="rId3"/>
    <p:sldId id="310" r:id="rId4"/>
    <p:sldId id="350" r:id="rId5"/>
    <p:sldId id="348" r:id="rId6"/>
    <p:sldId id="349" r:id="rId7"/>
    <p:sldId id="347" r:id="rId8"/>
    <p:sldId id="354" r:id="rId9"/>
    <p:sldId id="355" r:id="rId10"/>
    <p:sldId id="356" r:id="rId11"/>
    <p:sldId id="358" r:id="rId12"/>
    <p:sldId id="351" r:id="rId13"/>
    <p:sldId id="353" r:id="rId14"/>
    <p:sldId id="323" r:id="rId15"/>
    <p:sldId id="324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>
        <p:scale>
          <a:sx n="75" d="100"/>
          <a:sy n="75" d="100"/>
        </p:scale>
        <p:origin x="-2664" y="-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DE38F-C175-4C9C-B7F6-797E8BFE0C91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4F996-7C17-4A94-A2FC-B4386C9240D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29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6000">
              <a:srgbClr val="FF3399"/>
            </a:gs>
            <a:gs pos="25000">
              <a:srgbClr val="FF6633"/>
            </a:gs>
            <a:gs pos="50000">
              <a:srgbClr val="FFFF00"/>
            </a:gs>
            <a:gs pos="75000">
              <a:srgbClr val="01A78F"/>
            </a:gs>
            <a:gs pos="100000">
              <a:srgbClr val="3366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04.01.2020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28596" y="1643050"/>
            <a:ext cx="5684168" cy="118199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5400" b="1" i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Урок математики 5 класс</a:t>
            </a:r>
            <a:endParaRPr lang="ru-RU" sz="5400" b="1" i="1" dirty="0">
              <a:ln>
                <a:solidFill>
                  <a:srgbClr val="00B0F0"/>
                </a:solidFill>
              </a:ln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067175" y="3429000"/>
            <a:ext cx="4932363" cy="11763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Русинова</a:t>
            </a:r>
            <a:endParaRPr lang="ru-RU" dirty="0" smtClean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Тамара Николаевна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Рисунок 4" descr="3e5a6e730c60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5426" y="404664"/>
            <a:ext cx="2760823" cy="2422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Рисунок 5" descr="7bdd6a2847df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52413" y="4284358"/>
            <a:ext cx="4464373" cy="2573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Группа 18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3" name="Рамка 12"/>
            <p:cNvSpPr/>
            <p:nvPr/>
          </p:nvSpPr>
          <p:spPr>
            <a:xfrm>
              <a:off x="0" y="0"/>
              <a:ext cx="9144000" cy="6858000"/>
            </a:xfrm>
            <a:prstGeom prst="frame">
              <a:avLst>
                <a:gd name="adj1" fmla="val 3616"/>
              </a:avLst>
            </a:prstGeom>
            <a:gradFill flip="none" rotWithShape="1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6200000" scaled="0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  <a:scene3d>
              <a:camera prst="orthographicFront"/>
              <a:lightRig rig="threePt" dir="t"/>
            </a:scene3d>
            <a:sp3d extrusionH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solidFill>
                  <a:schemeClr val="tx1"/>
                </a:solidFill>
              </a:endParaRPr>
            </a:p>
          </p:txBody>
        </p:sp>
        <p:pic>
          <p:nvPicPr>
            <p:cNvPr id="2059" name="Picture 5" descr="C:\Users\Елена\AppData\Local\Microsoft\Windows\Temporary Internet Files\Content.IE5\OASCQ3G5\MC900290515[1]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380312" y="6069419"/>
              <a:ext cx="974860" cy="788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60" name="Picture 8" descr="C:\Users\Елена\AppData\Local\Microsoft\Windows\Temporary Internet Files\Content.IE5\6SMSW8JI\MC900299565[1].wmf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100392" y="4869160"/>
              <a:ext cx="885139" cy="18205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55" name="Picture 2" descr="C:\Users\Елена\AppData\Local\Temp\Rar$DI06.521\DJFS_TOA_FeltFlower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-1058180">
            <a:off x="103188" y="106363"/>
            <a:ext cx="82867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Виды углов. Измерение углов.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 smtClean="0">
                <a:solidFill>
                  <a:schemeClr val="tx1"/>
                </a:solidFill>
              </a:rPr>
              <a:t>Повторим…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Проверим…</a:t>
            </a:r>
          </a:p>
          <a:p>
            <a:pPr algn="l"/>
            <a:r>
              <a:rPr lang="ru-RU" dirty="0" smtClean="0">
                <a:solidFill>
                  <a:schemeClr val="tx1"/>
                </a:solidFill>
              </a:rPr>
              <a:t>Решим…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88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764704"/>
            <a:ext cx="6867607" cy="515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Определите, верно ли предложение?</a:t>
            </a:r>
            <a:endParaRPr lang="ru-RU" sz="2400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786386"/>
              </p:ext>
            </p:extLst>
          </p:nvPr>
        </p:nvGraphicFramePr>
        <p:xfrm>
          <a:off x="467544" y="1700808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416"/>
                <a:gridCol w="6264696"/>
                <a:gridCol w="1306488"/>
              </a:tblGrid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Г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Половина 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развернутого угла – прямой угол.</a:t>
                      </a: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М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Меньший угол имеет большую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величину.</a:t>
                      </a:r>
                      <a:endParaRPr lang="ru-RU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Р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Любой угол, больше прямого - или тупой, или развернутый.</a:t>
                      </a:r>
                      <a:endParaRPr lang="ru-RU" sz="18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Любой острый угол меньше прямого.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Любой угол, меньше развернутого – тупой.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Биссектриса делит угол на 2 равных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Тупой угол 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меньше острого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У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Прямой угол меньше тупого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262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С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Углы измеряются с помощью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транспортира.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Определите верность предложений</a:t>
            </a:r>
            <a:endParaRPr lang="ru-RU" sz="2400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227084"/>
              </p:ext>
            </p:extLst>
          </p:nvPr>
        </p:nvGraphicFramePr>
        <p:xfrm>
          <a:off x="467544" y="1093832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416"/>
                <a:gridCol w="6264696"/>
                <a:gridCol w="1306488"/>
              </a:tblGrid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Г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Половина 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развернутого угла – прямой угол.</a:t>
                      </a: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М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Меньший угол имеет большую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величину.</a:t>
                      </a:r>
                      <a:endParaRPr lang="ru-RU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Нет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Р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Любой угол, больше прямого - или тупой, или развернутый.</a:t>
                      </a:r>
                      <a:endParaRPr lang="ru-RU" sz="18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Любой острый угол меньше прямого.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Любой угол, меньше развернутого – тупой.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Нет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Биссектриса делит угол на 2 равных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П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Тупой угол 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меньше острого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Нет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У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Прямой угол меньше тупого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262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С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Углы измеряются с помощью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транспортира.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907704" y="5085184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5,6- «3»		7,8- «4»		9- «5»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1459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53339"/>
              </p:ext>
            </p:extLst>
          </p:nvPr>
        </p:nvGraphicFramePr>
        <p:xfrm>
          <a:off x="467544" y="1093832"/>
          <a:ext cx="8229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416"/>
                <a:gridCol w="6264696"/>
                <a:gridCol w="1306488"/>
              </a:tblGrid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Г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Половина 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развернутого угла – прямой угол.</a:t>
                      </a: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Р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Любой угол, больше прямого - или тупой, или развернутый.</a:t>
                      </a:r>
                      <a:endParaRPr lang="ru-RU" sz="1800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260" marR="68260" marT="0" marB="0"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smtClean="0"/>
                        <a:t>А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Любой острый угол меньше прямого.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Биссектриса делит угол на 2 равных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У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Прямой угол меньше тупого угла.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  <a:tr h="262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С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Углы измеряются с помощью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транспортира.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Да</a:t>
                      </a:r>
                      <a:endParaRPr lang="ru-RU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347864" y="5013176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Градус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4600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в паре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Составить из </a:t>
            </a:r>
            <a:r>
              <a:rPr lang="ru-RU" smtClean="0"/>
              <a:t>макетов углов в </a:t>
            </a:r>
            <a:r>
              <a:rPr lang="ru-RU" dirty="0" smtClean="0"/>
              <a:t>90</a:t>
            </a:r>
            <a:r>
              <a:rPr lang="ru-RU" dirty="0"/>
              <a:t>°, 45 </a:t>
            </a:r>
            <a:r>
              <a:rPr lang="ru-RU" dirty="0" smtClean="0"/>
              <a:t>°, 30</a:t>
            </a:r>
            <a:r>
              <a:rPr lang="ru-RU" dirty="0"/>
              <a:t> </a:t>
            </a:r>
            <a:r>
              <a:rPr lang="ru-RU" dirty="0" smtClean="0"/>
              <a:t>°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в паре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Составить из макетов в 90</a:t>
            </a:r>
            <a:r>
              <a:rPr lang="ru-RU" dirty="0"/>
              <a:t>°, 45 </a:t>
            </a:r>
            <a:r>
              <a:rPr lang="ru-RU" dirty="0" smtClean="0"/>
              <a:t>°, 30</a:t>
            </a:r>
            <a:r>
              <a:rPr lang="ru-RU" dirty="0"/>
              <a:t> </a:t>
            </a:r>
            <a:r>
              <a:rPr lang="ru-RU" dirty="0" smtClean="0"/>
              <a:t>°</a:t>
            </a:r>
          </a:p>
          <a:p>
            <a:endParaRPr lang="ru-RU" dirty="0"/>
          </a:p>
          <a:p>
            <a:pPr marL="0" indent="0" algn="ctr">
              <a:buNone/>
            </a:pPr>
            <a:r>
              <a:rPr lang="ru-RU" dirty="0" smtClean="0"/>
              <a:t>угол </a:t>
            </a:r>
            <a:r>
              <a:rPr lang="ru-RU" dirty="0"/>
              <a:t>равный  135°</a:t>
            </a:r>
          </a:p>
        </p:txBody>
      </p:sp>
    </p:spTree>
    <p:extLst>
      <p:ext uri="{BB962C8B-B14F-4D97-AF65-F5344CB8AC3E}">
        <p14:creationId xmlns:p14="http://schemas.microsoft.com/office/powerpoint/2010/main" val="318829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в паре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Составить из макетов в 90</a:t>
            </a:r>
            <a:r>
              <a:rPr lang="ru-RU" dirty="0"/>
              <a:t>°, 45 </a:t>
            </a:r>
            <a:r>
              <a:rPr lang="ru-RU" dirty="0" smtClean="0"/>
              <a:t>°, 30</a:t>
            </a:r>
            <a:r>
              <a:rPr lang="ru-RU" dirty="0"/>
              <a:t> </a:t>
            </a:r>
            <a:r>
              <a:rPr lang="ru-RU" dirty="0" smtClean="0"/>
              <a:t>°</a:t>
            </a:r>
          </a:p>
          <a:p>
            <a:pPr marL="0" indent="0" algn="ctr">
              <a:buNone/>
            </a:pPr>
            <a:r>
              <a:rPr lang="ru-RU" dirty="0" smtClean="0"/>
              <a:t>угол </a:t>
            </a:r>
            <a:r>
              <a:rPr lang="ru-RU" dirty="0"/>
              <a:t>равный 75°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29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в паре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Составить из макетов в 90</a:t>
            </a:r>
            <a:r>
              <a:rPr lang="ru-RU" dirty="0"/>
              <a:t>°, 45 </a:t>
            </a:r>
            <a:r>
              <a:rPr lang="ru-RU" dirty="0" smtClean="0"/>
              <a:t>°, 30</a:t>
            </a:r>
            <a:r>
              <a:rPr lang="ru-RU" dirty="0"/>
              <a:t> </a:t>
            </a:r>
            <a:r>
              <a:rPr lang="ru-RU" dirty="0" smtClean="0"/>
              <a:t>°</a:t>
            </a:r>
          </a:p>
          <a:p>
            <a:pPr marL="0" indent="0" algn="ctr">
              <a:buNone/>
            </a:pPr>
            <a:r>
              <a:rPr lang="ru-RU" dirty="0"/>
              <a:t>угол равный 165°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29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в паре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Составить из макетов в 90</a:t>
            </a:r>
            <a:r>
              <a:rPr lang="ru-RU" dirty="0"/>
              <a:t>°, 45 </a:t>
            </a:r>
            <a:r>
              <a:rPr lang="ru-RU" dirty="0" smtClean="0"/>
              <a:t>°, 30</a:t>
            </a:r>
            <a:r>
              <a:rPr lang="ru-RU" dirty="0"/>
              <a:t> </a:t>
            </a:r>
            <a:r>
              <a:rPr lang="ru-RU" dirty="0" smtClean="0"/>
              <a:t>°</a:t>
            </a:r>
          </a:p>
          <a:p>
            <a:pPr marL="0" indent="0" algn="ctr">
              <a:buNone/>
            </a:pPr>
            <a:r>
              <a:rPr lang="ru-RU" dirty="0"/>
              <a:t>угол равный </a:t>
            </a:r>
            <a:r>
              <a:rPr lang="ru-RU" dirty="0" smtClean="0"/>
              <a:t>15</a:t>
            </a:r>
            <a:r>
              <a:rPr lang="ru-RU" dirty="0"/>
              <a:t>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576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Физкультминутка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02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Самостоятельная работа.</a:t>
            </a:r>
            <a:br>
              <a:rPr lang="ru-RU" sz="2800" dirty="0" smtClean="0"/>
            </a:br>
            <a:r>
              <a:rPr lang="ru-RU" sz="2800" dirty="0" smtClean="0"/>
              <a:t>Вычислить величины углов.</a:t>
            </a:r>
            <a:endParaRPr lang="ru-RU" sz="28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820441"/>
            <a:ext cx="2167987" cy="143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85913"/>
            <a:ext cx="5458534" cy="1466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710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Домашнее задание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   </a:t>
            </a:r>
          </a:p>
          <a:p>
            <a:pPr>
              <a:buNone/>
            </a:pPr>
            <a:r>
              <a:rPr lang="ru-RU" dirty="0" smtClean="0"/>
              <a:t>    </a:t>
            </a:r>
            <a:endParaRPr lang="ru-RU" b="1" dirty="0" smtClean="0"/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4408785" cy="2086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38" y="2636912"/>
            <a:ext cx="5937250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7584" y="5013176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3) Подготовить сообщение об истории возникновения единиц измерения углов.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/>
              <a:t>Рефлексия</a:t>
            </a:r>
            <a:endParaRPr lang="ru-RU" sz="32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-красный - все понравилось, было все понятно, трудностей не вызывало;</a:t>
            </a:r>
          </a:p>
          <a:p>
            <a:r>
              <a:rPr lang="ru-RU" sz="2800" dirty="0"/>
              <a:t>-зеленый - урок понравился, но были некоторые трудности при решении заданий;</a:t>
            </a:r>
          </a:p>
          <a:p>
            <a:r>
              <a:rPr lang="ru-RU" sz="2800" dirty="0"/>
              <a:t>- синий  – на уроке чувствовал себя не комфортно, задания слишком трудные.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388</Words>
  <Application>Microsoft Office PowerPoint</Application>
  <PresentationFormat>Экран (4:3)</PresentationFormat>
  <Paragraphs>98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Урок математики 5 класс</vt:lpstr>
      <vt:lpstr>Виды углов. Измерение углов.</vt:lpstr>
      <vt:lpstr>Презентация PowerPoint</vt:lpstr>
      <vt:lpstr>Определите, верно ли предложение?</vt:lpstr>
      <vt:lpstr>Определите верность предложений</vt:lpstr>
      <vt:lpstr>Презентация PowerPoint</vt:lpstr>
      <vt:lpstr>Работа в паре</vt:lpstr>
      <vt:lpstr>Работа в паре</vt:lpstr>
      <vt:lpstr>Работа в паре</vt:lpstr>
      <vt:lpstr>Работа в паре</vt:lpstr>
      <vt:lpstr>Работа в паре</vt:lpstr>
      <vt:lpstr>Физкультминутка</vt:lpstr>
      <vt:lpstr>Самостоятельная работа. Вычислить величины углов.</vt:lpstr>
      <vt:lpstr>Домашнее задание</vt:lpstr>
      <vt:lpstr>Рефлексия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1</dc:creator>
  <cp:lastModifiedBy>User</cp:lastModifiedBy>
  <cp:revision>112</cp:revision>
  <dcterms:modified xsi:type="dcterms:W3CDTF">2020-01-04T12:20:38Z</dcterms:modified>
</cp:coreProperties>
</file>