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0" i="0" strike="noStrike" sz="1800" u="none">
                <a:solidFill>
                  <a:srgbClr val="595959"/>
                </a:solidFill>
                <a:latin typeface="Arial"/>
              </a:defRPr>
            </a:pPr>
            <a:r>
              <a:rPr b="0" i="0" strike="noStrike" sz="1800" u="none">
                <a:solidFill>
                  <a:srgbClr val="595959"/>
                </a:solidFill>
                <a:latin typeface="Arial"/>
              </a:rPr>
              <a:t>Сравнительный анализ результатов диагностик 
5 класс, 6 класс
</a:t>
            </a:r>
          </a:p>
        </c:rich>
      </c:tx>
      <c:layout>
        <c:manualLayout>
          <c:xMode val="edge"/>
          <c:yMode val="edge"/>
          <c:x val="0.0535492"/>
          <c:y val="0"/>
          <c:w val="0.892902"/>
          <c:h val="0.180926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0395284"/>
          <c:y val="0.180926"/>
          <c:w val="0.955472"/>
          <c:h val="0.246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 класс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озаглавить текст</c:v>
                </c:pt>
                <c:pt idx="1">
                  <c:v>формулировать тезис, выражающий общий смысл текста</c:v>
                </c:pt>
                <c:pt idx="2">
                  <c:v>находить ответы в тексте (в явном виде)</c:v>
                </c:pt>
                <c:pt idx="3">
                  <c:v>находить ответы в тексте (в неявном виде) </c:v>
                </c:pt>
                <c:pt idx="4">
                  <c:v>объяснять порядок частей</c:v>
                </c:pt>
                <c:pt idx="5">
                  <c:v>использовать информацию для решения пробем</c:v>
                </c:pt>
                <c:pt idx="6">
                  <c:v>переходить от одного представления данных к другому</c:v>
                </c:pt>
                <c:pt idx="7">
                  <c:v>выводить заключение  о намерении автора</c:v>
                </c:pt>
                <c:pt idx="8">
                  <c:v>задавать вопрос к тексту</c:v>
                </c:pt>
                <c:pt idx="9">
                  <c:v>формулировать утверждения на основе предположения</c:v>
                </c:pt>
                <c:pt idx="10">
                  <c:v>оценивать свои знания </c:v>
                </c:pt>
              </c:strCache>
            </c:strRef>
          </c:cat>
          <c:val>
            <c:numRef>
              <c:f>Sheet1!$B$2:$B$12</c:f>
              <c:numCache>
                <c:ptCount val="11"/>
                <c:pt idx="0">
                  <c:v>27.000000</c:v>
                </c:pt>
                <c:pt idx="1">
                  <c:v>13.000000</c:v>
                </c:pt>
                <c:pt idx="2">
                  <c:v>59.000000</c:v>
                </c:pt>
                <c:pt idx="3">
                  <c:v>0.000000</c:v>
                </c:pt>
                <c:pt idx="4">
                  <c:v>25.000000</c:v>
                </c:pt>
                <c:pt idx="5">
                  <c:v>20.000000</c:v>
                </c:pt>
                <c:pt idx="6">
                  <c:v>7.000000</c:v>
                </c:pt>
                <c:pt idx="7">
                  <c:v>0.000000</c:v>
                </c:pt>
                <c:pt idx="8">
                  <c:v>35.000000</c:v>
                </c:pt>
                <c:pt idx="9">
                  <c:v>0.000000</c:v>
                </c:pt>
                <c:pt idx="10">
                  <c:v>33.000000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 класс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озаглавить текст</c:v>
                </c:pt>
                <c:pt idx="1">
                  <c:v>формулировать тезис, выражающий общий смысл текста</c:v>
                </c:pt>
                <c:pt idx="2">
                  <c:v>находить ответы в тексте (в явном виде)</c:v>
                </c:pt>
                <c:pt idx="3">
                  <c:v>находить ответы в тексте (в неявном виде) </c:v>
                </c:pt>
                <c:pt idx="4">
                  <c:v>объяснять порядок частей</c:v>
                </c:pt>
                <c:pt idx="5">
                  <c:v>использовать информацию для решения пробем</c:v>
                </c:pt>
                <c:pt idx="6">
                  <c:v>переходить от одного представления данных к другому</c:v>
                </c:pt>
                <c:pt idx="7">
                  <c:v>выводить заключение  о намерении автора</c:v>
                </c:pt>
                <c:pt idx="8">
                  <c:v>задавать вопрос к тексту</c:v>
                </c:pt>
                <c:pt idx="9">
                  <c:v>формулировать утверждения на основе предположения</c:v>
                </c:pt>
                <c:pt idx="10">
                  <c:v>оценивать свои знания </c:v>
                </c:pt>
              </c:strCache>
            </c:strRef>
          </c:cat>
          <c:val>
            <c:numRef>
              <c:f>Sheet1!$C$2:$C$12</c:f>
              <c:numCache>
                <c:ptCount val="11"/>
                <c:pt idx="0">
                  <c:v>35.000000</c:v>
                </c:pt>
                <c:pt idx="1">
                  <c:v>35.000000</c:v>
                </c:pt>
                <c:pt idx="2">
                  <c:v>60.000000</c:v>
                </c:pt>
                <c:pt idx="3">
                  <c:v>35.000000</c:v>
                </c:pt>
                <c:pt idx="4">
                  <c:v>45.000000</c:v>
                </c:pt>
                <c:pt idx="5">
                  <c:v>59.000000</c:v>
                </c:pt>
                <c:pt idx="6">
                  <c:v>29.000000</c:v>
                </c:pt>
                <c:pt idx="7">
                  <c:v>0.000000</c:v>
                </c:pt>
                <c:pt idx="8">
                  <c:v>67.000000</c:v>
                </c:pt>
                <c:pt idx="9">
                  <c:v>0.000000</c:v>
                </c:pt>
                <c:pt idx="10">
                  <c:v>56.000000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озаглавить текст</c:v>
                </c:pt>
                <c:pt idx="1">
                  <c:v>формулировать тезис, выражающий общий смысл текста</c:v>
                </c:pt>
                <c:pt idx="2">
                  <c:v>находить ответы в тексте (в явном виде)</c:v>
                </c:pt>
                <c:pt idx="3">
                  <c:v>находить ответы в тексте (в неявном виде) </c:v>
                </c:pt>
                <c:pt idx="4">
                  <c:v>объяснять порядок частей</c:v>
                </c:pt>
                <c:pt idx="5">
                  <c:v>использовать информацию для решения пробем</c:v>
                </c:pt>
                <c:pt idx="6">
                  <c:v>переходить от одного представления данных к другому</c:v>
                </c:pt>
                <c:pt idx="7">
                  <c:v>выводить заключение  о намерении автора</c:v>
                </c:pt>
                <c:pt idx="8">
                  <c:v>задавать вопрос к тексту</c:v>
                </c:pt>
                <c:pt idx="9">
                  <c:v>формулировать утверждения на основе предположения</c:v>
                </c:pt>
                <c:pt idx="10">
                  <c:v>оценивать свои знания </c:v>
                </c:pt>
              </c:strCache>
            </c:strRef>
          </c:cat>
          <c:val>
            <c:numRef>
              <c:f>Sheet1!$D$2:$D$12</c:f>
              <c:numCache>
                <c:ptCount val="0"/>
              </c:numCache>
            </c:numRef>
          </c:val>
        </c:ser>
        <c:gapWidth val="219"/>
        <c:overlap val="-27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1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100" u="none">
                <a:solidFill>
                  <a:srgbClr val="595959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17.5"/>
        <c:minorUnit val="8.7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301197"/>
          <c:y val="0.95906"/>
          <c:w val="0.348738"/>
          <c:h val="0.0409397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1100" u="none">
              <a:solidFill>
                <a:srgbClr val="595959"/>
              </a:solidFill>
              <a:latin typeface="Arial"/>
            </a:defRPr>
          </a:pPr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50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3" name="Shape 50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5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1" name="Shape 5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" sz="2000"/>
            </a:lvl1pPr>
          </a:lstStyle>
          <a:p>
            <a:pPr/>
            <a:r>
              <a:t>	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24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29" name="Уровень текста 1…"/>
          <p:cNvSpPr txBox="1"/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anchor="ctr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38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43" name="Уровень текста 1…"/>
          <p:cNvSpPr txBox="1"/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5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57" name="Уровень текста 1…"/>
          <p:cNvSpPr txBox="1"/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8" name="PlaceHolder 3"/>
          <p:cNvSpPr/>
          <p:nvPr>
            <p:ph type="body" sz="half" idx="21"/>
          </p:nvPr>
        </p:nvSpPr>
        <p:spPr>
          <a:xfrm>
            <a:off x="4674239" y="1604519"/>
            <a:ext cx="4015800" cy="3977282"/>
          </a:xfrm>
          <a:prstGeom prst="rect">
            <a:avLst/>
          </a:prstGeom>
        </p:spPr>
        <p:txBody>
          <a:bodyPr/>
          <a:lstStyle/>
          <a:p>
            <a:pPr>
              <a:defRPr spc="-100"/>
            </a:pPr>
          </a:p>
        </p:txBody>
      </p:sp>
      <p:sp>
        <p:nvSpPr>
          <p:cNvPr id="5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67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7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80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Уровень текста 1…"/>
          <p:cNvSpPr txBox="1"/>
          <p:nvPr>
            <p:ph type="body" idx="1"/>
          </p:nvPr>
        </p:nvSpPr>
        <p:spPr>
          <a:xfrm>
            <a:off x="457200" y="273599"/>
            <a:ext cx="8229241" cy="5307841"/>
          </a:xfrm>
          <a:prstGeom prst="rect">
            <a:avLst/>
          </a:prstGeom>
        </p:spPr>
        <p:txBody>
          <a:bodyPr anchor="ctr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93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98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9" name="PlaceHolder 3"/>
          <p:cNvSpPr/>
          <p:nvPr/>
        </p:nvSpPr>
        <p:spPr>
          <a:xfrm>
            <a:off x="457199" y="3682079"/>
            <a:ext cx="40158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pc="-100" sz="3200"/>
            </a:pPr>
          </a:p>
        </p:txBody>
      </p:sp>
      <p:sp>
        <p:nvSpPr>
          <p:cNvPr id="100" name="PlaceHolder 4"/>
          <p:cNvSpPr/>
          <p:nvPr>
            <p:ph type="body" sz="half" idx="21"/>
          </p:nvPr>
        </p:nvSpPr>
        <p:spPr>
          <a:xfrm>
            <a:off x="4674239" y="1604519"/>
            <a:ext cx="4015800" cy="3977282"/>
          </a:xfrm>
          <a:prstGeom prst="rect">
            <a:avLst/>
          </a:prstGeom>
        </p:spPr>
        <p:txBody>
          <a:bodyPr/>
          <a:lstStyle/>
          <a:p>
            <a:pPr>
              <a:defRPr spc="-100"/>
            </a:pP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109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114" name="Уровень текста 1…"/>
          <p:cNvSpPr txBox="1"/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15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pc="-100" sz="3200"/>
            </a:pPr>
          </a:p>
        </p:txBody>
      </p:sp>
      <p:sp>
        <p:nvSpPr>
          <p:cNvPr id="116" name="PlaceHolder 4"/>
          <p:cNvSpPr/>
          <p:nvPr>
            <p:ph type="body" sz="quarter" idx="21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</p:spPr>
        <p:txBody>
          <a:bodyPr/>
          <a:lstStyle/>
          <a:p>
            <a:pPr>
              <a:defRPr spc="-100"/>
            </a:pPr>
          </a:p>
        </p:txBody>
      </p:sp>
      <p:sp>
        <p:nvSpPr>
          <p:cNvPr id="11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12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130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1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pc="-100" sz="3200"/>
            </a:pPr>
          </a:p>
        </p:txBody>
      </p:sp>
      <p:sp>
        <p:nvSpPr>
          <p:cNvPr id="132" name="PlaceHolder 4"/>
          <p:cNvSpPr/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/>
          <a:lstStyle/>
          <a:p>
            <a:pPr>
              <a:defRPr spc="-100"/>
            </a:pPr>
          </a:p>
        </p:txBody>
      </p:sp>
      <p:sp>
        <p:nvSpPr>
          <p:cNvPr id="13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141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146" name="Уровень текста 1…"/>
          <p:cNvSpPr txBox="1"/>
          <p:nvPr>
            <p:ph type="body" sz="half" idx="1"/>
          </p:nvPr>
        </p:nvSpPr>
        <p:spPr>
          <a:xfrm>
            <a:off x="457200" y="1604519"/>
            <a:ext cx="8229241" cy="189684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47" name="PlaceHolder 3"/>
          <p:cNvSpPr/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/>
          <a:lstStyle/>
          <a:p>
            <a:pPr>
              <a:defRPr spc="-100"/>
            </a:pPr>
          </a:p>
        </p:txBody>
      </p:sp>
      <p:sp>
        <p:nvSpPr>
          <p:cNvPr id="14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15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161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62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pc="-100" sz="3200"/>
            </a:pPr>
          </a:p>
        </p:txBody>
      </p:sp>
      <p:sp>
        <p:nvSpPr>
          <p:cNvPr id="163" name="PlaceHolder 4"/>
          <p:cNvSpPr/>
          <p:nvPr/>
        </p:nvSpPr>
        <p:spPr>
          <a:xfrm>
            <a:off x="4674239" y="3682079"/>
            <a:ext cx="4015800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pc="-100" sz="3200"/>
            </a:pPr>
          </a:p>
        </p:txBody>
      </p:sp>
      <p:sp>
        <p:nvSpPr>
          <p:cNvPr id="164" name="PlaceHolder 5"/>
          <p:cNvSpPr/>
          <p:nvPr>
            <p:ph type="body" sz="quarter" idx="21"/>
          </p:nvPr>
        </p:nvSpPr>
        <p:spPr>
          <a:xfrm>
            <a:off x="457199" y="3682079"/>
            <a:ext cx="4015801" cy="1896841"/>
          </a:xfrm>
          <a:prstGeom prst="rect">
            <a:avLst/>
          </a:prstGeom>
        </p:spPr>
        <p:txBody>
          <a:bodyPr/>
          <a:lstStyle/>
          <a:p>
            <a:pPr>
              <a:defRPr spc="-100"/>
            </a:pPr>
          </a:p>
        </p:txBody>
      </p:sp>
      <p:sp>
        <p:nvSpPr>
          <p:cNvPr id="16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173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178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2649601" cy="1896842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79" name="PlaceHolder 3"/>
          <p:cNvSpPr/>
          <p:nvPr/>
        </p:nvSpPr>
        <p:spPr>
          <a:xfrm>
            <a:off x="323964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pc="-100" sz="3200"/>
            </a:pPr>
          </a:p>
        </p:txBody>
      </p:sp>
      <p:sp>
        <p:nvSpPr>
          <p:cNvPr id="180" name="PlaceHolder 4"/>
          <p:cNvSpPr/>
          <p:nvPr/>
        </p:nvSpPr>
        <p:spPr>
          <a:xfrm>
            <a:off x="602208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pc="-100" sz="3200"/>
            </a:pPr>
          </a:p>
        </p:txBody>
      </p:sp>
      <p:sp>
        <p:nvSpPr>
          <p:cNvPr id="181" name="PlaceHolder 5"/>
          <p:cNvSpPr/>
          <p:nvPr/>
        </p:nvSpPr>
        <p:spPr>
          <a:xfrm>
            <a:off x="6022080" y="3682079"/>
            <a:ext cx="26496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pc="-100" sz="3200"/>
            </a:pPr>
          </a:p>
        </p:txBody>
      </p:sp>
      <p:sp>
        <p:nvSpPr>
          <p:cNvPr id="182" name="PlaceHolder 6"/>
          <p:cNvSpPr/>
          <p:nvPr/>
        </p:nvSpPr>
        <p:spPr>
          <a:xfrm>
            <a:off x="3239640" y="3682079"/>
            <a:ext cx="26496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pc="-100" sz="3200"/>
            </a:pPr>
          </a:p>
        </p:txBody>
      </p:sp>
      <p:sp>
        <p:nvSpPr>
          <p:cNvPr id="183" name="PlaceHolder 7"/>
          <p:cNvSpPr/>
          <p:nvPr>
            <p:ph type="body" sz="quarter" idx="21"/>
          </p:nvPr>
        </p:nvSpPr>
        <p:spPr>
          <a:xfrm>
            <a:off x="457199" y="3682079"/>
            <a:ext cx="2649602" cy="1896841"/>
          </a:xfrm>
          <a:prstGeom prst="rect">
            <a:avLst/>
          </a:prstGeom>
        </p:spPr>
        <p:txBody>
          <a:bodyPr/>
          <a:lstStyle/>
          <a:p>
            <a:pPr>
              <a:defRPr spc="-100"/>
            </a:pPr>
          </a:p>
        </p:txBody>
      </p:sp>
      <p:sp>
        <p:nvSpPr>
          <p:cNvPr id="1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19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20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05" name="Уровень текста 1…"/>
          <p:cNvSpPr txBox="1"/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anchor="ctr"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0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214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17" name="Уровень текста 1…"/>
          <p:cNvSpPr txBox="1"/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1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22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29" name="Уровень текста 1…"/>
          <p:cNvSpPr txBox="1"/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0" name="PlaceHolder 3"/>
          <p:cNvSpPr/>
          <p:nvPr>
            <p:ph type="body" sz="half" idx="21"/>
          </p:nvPr>
        </p:nvSpPr>
        <p:spPr>
          <a:xfrm>
            <a:off x="4674239" y="1604519"/>
            <a:ext cx="4015800" cy="3977282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23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239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4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250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Уровень текста 1…"/>
          <p:cNvSpPr txBox="1"/>
          <p:nvPr>
            <p:ph type="body" idx="1"/>
          </p:nvPr>
        </p:nvSpPr>
        <p:spPr>
          <a:xfrm>
            <a:off x="457200" y="273599"/>
            <a:ext cx="8229241" cy="5307841"/>
          </a:xfrm>
          <a:prstGeom prst="rect">
            <a:avLst/>
          </a:prstGeom>
        </p:spPr>
        <p:txBody>
          <a:bodyPr anchor="ctr"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261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64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65" name="PlaceHolder 3"/>
          <p:cNvSpPr/>
          <p:nvPr/>
        </p:nvSpPr>
        <p:spPr>
          <a:xfrm>
            <a:off x="457199" y="3682079"/>
            <a:ext cx="40158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266" name="PlaceHolder 4"/>
          <p:cNvSpPr/>
          <p:nvPr>
            <p:ph type="body" sz="half" idx="21"/>
          </p:nvPr>
        </p:nvSpPr>
        <p:spPr>
          <a:xfrm>
            <a:off x="4674239" y="1604519"/>
            <a:ext cx="4015800" cy="3977282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26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27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78" name="Уровень текста 1…"/>
          <p:cNvSpPr txBox="1"/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79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280" name="PlaceHolder 4"/>
          <p:cNvSpPr/>
          <p:nvPr>
            <p:ph type="body" sz="quarter" idx="21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28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289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92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93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294" name="PlaceHolder 4"/>
          <p:cNvSpPr/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29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303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4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305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06" name="Уровень текста 1…"/>
          <p:cNvSpPr txBox="1"/>
          <p:nvPr>
            <p:ph type="body" sz="half" idx="1"/>
          </p:nvPr>
        </p:nvSpPr>
        <p:spPr>
          <a:xfrm>
            <a:off x="457200" y="1604519"/>
            <a:ext cx="8229241" cy="189684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07" name="PlaceHolder 3"/>
          <p:cNvSpPr/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30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31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7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19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20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321" name="PlaceHolder 4"/>
          <p:cNvSpPr/>
          <p:nvPr/>
        </p:nvSpPr>
        <p:spPr>
          <a:xfrm>
            <a:off x="4674239" y="3682079"/>
            <a:ext cx="4015800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322" name="PlaceHolder 5"/>
          <p:cNvSpPr/>
          <p:nvPr>
            <p:ph type="body" sz="quarter" idx="21"/>
          </p:nvPr>
        </p:nvSpPr>
        <p:spPr>
          <a:xfrm>
            <a:off x="457199" y="3682079"/>
            <a:ext cx="4015801" cy="1896841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32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331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34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2649601" cy="189684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35" name="PlaceHolder 3"/>
          <p:cNvSpPr/>
          <p:nvPr/>
        </p:nvSpPr>
        <p:spPr>
          <a:xfrm>
            <a:off x="323964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336" name="PlaceHolder 4"/>
          <p:cNvSpPr/>
          <p:nvPr/>
        </p:nvSpPr>
        <p:spPr>
          <a:xfrm>
            <a:off x="602208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337" name="PlaceHolder 5"/>
          <p:cNvSpPr/>
          <p:nvPr/>
        </p:nvSpPr>
        <p:spPr>
          <a:xfrm>
            <a:off x="6022080" y="3682079"/>
            <a:ext cx="26496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338" name="PlaceHolder 6"/>
          <p:cNvSpPr/>
          <p:nvPr/>
        </p:nvSpPr>
        <p:spPr>
          <a:xfrm>
            <a:off x="3239640" y="3682079"/>
            <a:ext cx="26496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339" name="PlaceHolder 7"/>
          <p:cNvSpPr/>
          <p:nvPr>
            <p:ph type="body" sz="quarter" idx="21"/>
          </p:nvPr>
        </p:nvSpPr>
        <p:spPr>
          <a:xfrm>
            <a:off x="457199" y="3682079"/>
            <a:ext cx="2649602" cy="1896841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34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348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358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9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61" name="Уровень текста 1…"/>
          <p:cNvSpPr txBox="1"/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anchor="ctr"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370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1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73" name="Уровень текста 1…"/>
          <p:cNvSpPr txBox="1"/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38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3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384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85" name="Уровень текста 1…"/>
          <p:cNvSpPr txBox="1"/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86" name="PlaceHolder 3"/>
          <p:cNvSpPr/>
          <p:nvPr>
            <p:ph type="body" sz="half" idx="21"/>
          </p:nvPr>
        </p:nvSpPr>
        <p:spPr>
          <a:xfrm>
            <a:off x="4674239" y="1604519"/>
            <a:ext cx="4015800" cy="3977282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38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39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397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9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40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7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408" name="Уровень текста 1…"/>
          <p:cNvSpPr txBox="1"/>
          <p:nvPr>
            <p:ph type="body" idx="1"/>
          </p:nvPr>
        </p:nvSpPr>
        <p:spPr>
          <a:xfrm>
            <a:off x="457200" y="273599"/>
            <a:ext cx="8229241" cy="5307841"/>
          </a:xfrm>
          <a:prstGeom prst="rect">
            <a:avLst/>
          </a:prstGeom>
        </p:spPr>
        <p:txBody>
          <a:bodyPr anchor="ctr"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417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8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419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20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21" name="PlaceHolder 3"/>
          <p:cNvSpPr/>
          <p:nvPr/>
        </p:nvSpPr>
        <p:spPr>
          <a:xfrm>
            <a:off x="457199" y="3682079"/>
            <a:ext cx="40158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22" name="PlaceHolder 4"/>
          <p:cNvSpPr/>
          <p:nvPr>
            <p:ph type="body" sz="half" idx="21"/>
          </p:nvPr>
        </p:nvSpPr>
        <p:spPr>
          <a:xfrm>
            <a:off x="4674239" y="1604519"/>
            <a:ext cx="4015800" cy="3977282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42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431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34" name="Уровень текста 1…"/>
          <p:cNvSpPr txBox="1"/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35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36" name="PlaceHolder 4"/>
          <p:cNvSpPr/>
          <p:nvPr>
            <p:ph type="body" sz="quarter" idx="21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4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44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447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48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49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50" name="PlaceHolder 4"/>
          <p:cNvSpPr/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45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459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0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461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62" name="Уровень текста 1…"/>
          <p:cNvSpPr txBox="1"/>
          <p:nvPr>
            <p:ph type="body" sz="half" idx="1"/>
          </p:nvPr>
        </p:nvSpPr>
        <p:spPr>
          <a:xfrm>
            <a:off x="457200" y="1604519"/>
            <a:ext cx="8229241" cy="189684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63" name="PlaceHolder 3"/>
          <p:cNvSpPr/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4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47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3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75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76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77" name="PlaceHolder 4"/>
          <p:cNvSpPr/>
          <p:nvPr/>
        </p:nvSpPr>
        <p:spPr>
          <a:xfrm>
            <a:off x="4674239" y="3682079"/>
            <a:ext cx="4015800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78" name="PlaceHolder 5"/>
          <p:cNvSpPr/>
          <p:nvPr>
            <p:ph type="body" sz="quarter" idx="21"/>
          </p:nvPr>
        </p:nvSpPr>
        <p:spPr>
          <a:xfrm>
            <a:off x="457199" y="3682079"/>
            <a:ext cx="4015801" cy="1896841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47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487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489" name="Текст заголовка"/>
          <p:cNvSpPr txBox="1"/>
          <p:nvPr>
            <p:ph type="title"/>
          </p:nvPr>
        </p:nvSpPr>
        <p:spPr>
          <a:xfrm>
            <a:off x="457200" y="222840"/>
            <a:ext cx="8229241" cy="124668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 sz="4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90" name="Уровень текста 1…"/>
          <p:cNvSpPr txBox="1"/>
          <p:nvPr>
            <p:ph type="body" sz="quarter" idx="1"/>
          </p:nvPr>
        </p:nvSpPr>
        <p:spPr>
          <a:xfrm>
            <a:off x="457200" y="1604519"/>
            <a:ext cx="2649601" cy="1896842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1pPr>
            <a:lvl2pPr marL="723900" indent="-2667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2pPr>
            <a:lvl3pPr marL="1234439" indent="-320039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3pPr>
            <a:lvl4pPr marL="17272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4pPr>
            <a:lvl5pPr marL="2184400" indent="-355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91" name="PlaceHolder 3"/>
          <p:cNvSpPr/>
          <p:nvPr/>
        </p:nvSpPr>
        <p:spPr>
          <a:xfrm>
            <a:off x="323964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92" name="PlaceHolder 4"/>
          <p:cNvSpPr/>
          <p:nvPr/>
        </p:nvSpPr>
        <p:spPr>
          <a:xfrm>
            <a:off x="602208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93" name="PlaceHolder 5"/>
          <p:cNvSpPr/>
          <p:nvPr/>
        </p:nvSpPr>
        <p:spPr>
          <a:xfrm>
            <a:off x="6022080" y="3682079"/>
            <a:ext cx="26496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94" name="PlaceHolder 6"/>
          <p:cNvSpPr/>
          <p:nvPr/>
        </p:nvSpPr>
        <p:spPr>
          <a:xfrm>
            <a:off x="3239640" y="3682079"/>
            <a:ext cx="26496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95" name="PlaceHolder 7"/>
          <p:cNvSpPr/>
          <p:nvPr>
            <p:ph type="body" sz="quarter" idx="21"/>
          </p:nvPr>
        </p:nvSpPr>
        <p:spPr>
          <a:xfrm>
            <a:off x="457199" y="3682079"/>
            <a:ext cx="2649602" cy="1896841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ts val="1000"/>
              </a:spcBef>
              <a:buClrTx/>
              <a:buSzPct val="100000"/>
              <a:buFont typeface="Arial"/>
              <a:buChar char="•"/>
              <a:defRPr spc="0" sz="2800"/>
            </a:pPr>
          </a:p>
        </p:txBody>
      </p:sp>
      <p:sp>
        <p:nvSpPr>
          <p:cNvPr id="49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2.xml"/><Relationship Id="rId18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14.xml"/><Relationship Id="rId20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21.xml"/><Relationship Id="rId27" Type="http://schemas.openxmlformats.org/officeDocument/2006/relationships/slideLayout" Target="../slideLayouts/slideLayout22.xml"/><Relationship Id="rId28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24.xml"/><Relationship Id="rId30" Type="http://schemas.openxmlformats.org/officeDocument/2006/relationships/slideLayout" Target="../slideLayouts/slideLayout25.xml"/><Relationship Id="rId31" Type="http://schemas.openxmlformats.org/officeDocument/2006/relationships/slideLayout" Target="../slideLayouts/slideLayout26.xml"/><Relationship Id="rId32" Type="http://schemas.openxmlformats.org/officeDocument/2006/relationships/slideLayout" Target="../slideLayouts/slideLayout27.xml"/><Relationship Id="rId33" Type="http://schemas.openxmlformats.org/officeDocument/2006/relationships/slideLayout" Target="../slideLayouts/slideLayout28.xml"/><Relationship Id="rId34" Type="http://schemas.openxmlformats.org/officeDocument/2006/relationships/slideLayout" Target="../slideLayouts/slideLayout29.xml"/><Relationship Id="rId35" Type="http://schemas.openxmlformats.org/officeDocument/2006/relationships/slideLayout" Target="../slideLayouts/slideLayout30.xml"/><Relationship Id="rId36" Type="http://schemas.openxmlformats.org/officeDocument/2006/relationships/slideLayout" Target="../slideLayouts/slideLayout31.xml"/><Relationship Id="rId37" Type="http://schemas.openxmlformats.org/officeDocument/2006/relationships/slideLayout" Target="../slideLayouts/slideLayout32.xml"/><Relationship Id="rId38" Type="http://schemas.openxmlformats.org/officeDocument/2006/relationships/slideLayout" Target="../slideLayouts/slideLayout33.xml"/><Relationship Id="rId39" Type="http://schemas.openxmlformats.org/officeDocument/2006/relationships/slideLayout" Target="../slideLayouts/slideLayout34.xml"/><Relationship Id="rId40" Type="http://schemas.openxmlformats.org/officeDocument/2006/relationships/slideLayout" Target="../slideLayouts/slideLayout35.xml"/><Relationship Id="rId41" Type="http://schemas.openxmlformats.org/officeDocument/2006/relationships/slideLayout" Target="../slideLayouts/slideLayout3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rcRect l="2922" t="16663" r="3649" b="0"/>
          <a:stretch>
            <a:fillRect/>
          </a:stretch>
        </p:blipFill>
        <p:spPr>
          <a:xfrm>
            <a:off x="-1" y="-1"/>
            <a:ext cx="9143282" cy="1428122"/>
          </a:xfrm>
          <a:prstGeom prst="rect">
            <a:avLst/>
          </a:prstGeom>
          <a:ln w="12700">
            <a:miter lim="400000"/>
          </a:ln>
          <a:effectLst>
            <a:reflection blurRad="0" stA="38000" stPos="0" endA="0" endPos="40000" dist="0" dir="5400000" fadeDir="5400000" sx="100000" sy="-100000" kx="0" ky="0" algn="bl" rotWithShape="0"/>
          </a:effectLst>
        </p:spPr>
      </p:pic>
      <p:pic>
        <p:nvPicPr>
          <p:cNvPr id="3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2" descr="Picture 2"/>
          <p:cNvPicPr>
            <a:picLocks noChangeAspect="1"/>
          </p:cNvPicPr>
          <p:nvPr/>
        </p:nvPicPr>
        <p:blipFill>
          <a:blip r:embed="rId5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rcRect l="11538" t="0" r="0" b="11937"/>
          <a:stretch>
            <a:fillRect/>
          </a:stretch>
        </p:blipFill>
        <p:spPr>
          <a:xfrm>
            <a:off x="0" y="5357879"/>
            <a:ext cx="3285360" cy="149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2" descr="Picture 2"/>
          <p:cNvPicPr>
            <a:picLocks noChangeAspect="1"/>
          </p:cNvPicPr>
          <p:nvPr/>
        </p:nvPicPr>
        <p:blipFill>
          <a:blip r:embed="rId5">
            <a:extLst/>
          </a:blip>
          <a:srcRect l="11854" t="0" r="0" b="0"/>
          <a:stretch>
            <a:fillRect/>
          </a:stretch>
        </p:blipFill>
        <p:spPr>
          <a:xfrm>
            <a:off x="8215559" y="5175360"/>
            <a:ext cx="928081" cy="168192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Текст заголовка"/>
          <p:cNvSpPr txBox="1"/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Текст заголовка</a:t>
            </a:r>
          </a:p>
        </p:txBody>
      </p:sp>
      <p:sp>
        <p:nvSpPr>
          <p:cNvPr id="8" name="Уровень текста 1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" name="Номер слайда"/>
          <p:cNvSpPr txBox="1"/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  <p:sldLayoutId id="2147483666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  <p:sldLayoutId id="2147483673" r:id="rId30"/>
    <p:sldLayoutId id="2147483674" r:id="rId31"/>
    <p:sldLayoutId id="2147483675" r:id="rId32"/>
    <p:sldLayoutId id="2147483676" r:id="rId33"/>
    <p:sldLayoutId id="2147483677" r:id="rId34"/>
    <p:sldLayoutId id="2147483678" r:id="rId35"/>
    <p:sldLayoutId id="2147483679" r:id="rId36"/>
    <p:sldLayoutId id="2147483680" r:id="rId37"/>
    <p:sldLayoutId id="2147483681" r:id="rId38"/>
    <p:sldLayoutId id="2147483682" r:id="rId39"/>
    <p:sldLayoutId id="2147483683" r:id="rId40"/>
    <p:sldLayoutId id="2147483684" r:id="rId4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31999" marR="0" indent="-323999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910285" marR="0" indent="-370285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75000"/>
        <a:buFontTx/>
        <a:buChar char="−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392000" marR="0" indent="-38400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857599" marR="0" indent="-34560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75000"/>
        <a:buFontTx/>
        <a:buChar char="−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289599" marR="0" indent="-34560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721599" marR="0" indent="-34560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153599" marR="0" indent="-34560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606800" marR="0" indent="-40640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64000" marR="0" indent="-406400" algn="l" defTabSz="914400" rtl="0" latinLnBrk="0">
        <a:lnSpc>
          <a:spcPct val="90000"/>
        </a:lnSpc>
        <a:spcBef>
          <a:spcPts val="1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" Target="slide15.xml"/><Relationship Id="rId3" Type="http://schemas.openxmlformats.org/officeDocument/2006/relationships/slide" Target="slide16.xml"/><Relationship Id="rId4" Type="http://schemas.openxmlformats.org/officeDocument/2006/relationships/slide" Target="slide1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" Target="slide9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" Target="slide9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" Target="slide9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" Target="slide10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" Target="slide10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" Target="slide10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" Target="slide1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" Target="slide11.xml"/><Relationship Id="rId3" Type="http://schemas.openxmlformats.org/officeDocument/2006/relationships/image" Target="../media/image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" Target="slide1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CustomShape 1"/>
          <p:cNvSpPr/>
          <p:nvPr/>
        </p:nvSpPr>
        <p:spPr>
          <a:xfrm>
            <a:off x="0" y="214200"/>
            <a:ext cx="9143280" cy="1142280"/>
          </a:xfrm>
          <a:prstGeom prst="rect">
            <a:avLst/>
          </a:prstGeom>
          <a:gradFill>
            <a:gsLst>
              <a:gs pos="0">
                <a:srgbClr val="FDEADA"/>
              </a:gs>
              <a:gs pos="100000">
                <a:srgbClr val="FAC090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6" name="CustomShape 2"/>
          <p:cNvSpPr txBox="1"/>
          <p:nvPr/>
        </p:nvSpPr>
        <p:spPr>
          <a:xfrm>
            <a:off x="1545119" y="2143080"/>
            <a:ext cx="6310082" cy="3805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normAutofit fontScale="100000" lnSpcReduction="0"/>
          </a:bodyPr>
          <a:lstStyle/>
          <a:p>
            <a:pPr algn="ctr">
              <a:spcBef>
                <a:spcPts val="900"/>
              </a:spcBef>
              <a:defRPr b="1" spc="-100" sz="48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Приёмы обучения</a:t>
            </a:r>
            <a:r>
              <a:rPr>
                <a:solidFill>
                  <a:srgbClr val="FFFBFB"/>
                </a:solidFill>
              </a:rPr>
              <a:t> </a:t>
            </a:r>
            <a:r>
              <a:t>смысловому чтению</a:t>
            </a:r>
          </a:p>
          <a:p>
            <a:pPr algn="ctr">
              <a:spcBef>
                <a:spcPts val="900"/>
              </a:spcBef>
              <a:defRPr spc="-1" sz="2400">
                <a:solidFill>
                  <a:srgbClr val="E46C0A"/>
                </a:solidFill>
              </a:defRPr>
            </a:pPr>
          </a:p>
          <a:p>
            <a:pPr algn="r">
              <a:spcBef>
                <a:spcPts val="500"/>
              </a:spcBef>
              <a:defRPr spc="-100" sz="2200"/>
            </a:pPr>
            <a:r>
              <a:t>Русинова Тамара Николаевна</a:t>
            </a:r>
          </a:p>
          <a:p>
            <a:pPr algn="r">
              <a:spcBef>
                <a:spcPts val="500"/>
              </a:spcBef>
              <a:defRPr spc="-100" sz="2200"/>
            </a:pPr>
            <a:r>
              <a:t> МБОУ Менделеевская СОШ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CustomShape 1"/>
          <p:cNvGrpSpPr/>
          <p:nvPr/>
        </p:nvGrpSpPr>
        <p:grpSpPr>
          <a:xfrm>
            <a:off x="899639" y="1772640"/>
            <a:ext cx="7557842" cy="1439281"/>
            <a:chOff x="0" y="0"/>
            <a:chExt cx="7557840" cy="1439279"/>
          </a:xfrm>
        </p:grpSpPr>
        <p:sp>
          <p:nvSpPr>
            <p:cNvPr id="508" name="Прямоугольник"/>
            <p:cNvSpPr/>
            <p:nvPr/>
          </p:nvSpPr>
          <p:spPr>
            <a:xfrm>
              <a:off x="-1" y="0"/>
              <a:ext cx="7557842" cy="1439280"/>
            </a:xfrm>
            <a:prstGeom prst="rect">
              <a:avLst/>
            </a:prstGeom>
            <a:solidFill>
              <a:srgbClr val="B7DE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2000"/>
              </a:pPr>
            </a:p>
          </p:txBody>
        </p:sp>
        <p:sp>
          <p:nvSpPr>
            <p:cNvPr id="509" name="Обязательный компонент метапредметных результатов освоения основной образовательной программы:"/>
            <p:cNvSpPr txBox="1"/>
            <p:nvPr/>
          </p:nvSpPr>
          <p:spPr>
            <a:xfrm>
              <a:off x="44999" y="141240"/>
              <a:ext cx="7467842" cy="1156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defRPr b="1" spc="-1" sz="2400">
                  <a:solidFill>
                    <a:srgbClr val="FF0000"/>
                  </a:solidFill>
                  <a:latin typeface="Cambria"/>
                  <a:ea typeface="Cambria"/>
                  <a:cs typeface="Cambria"/>
                  <a:sym typeface="Cambria"/>
                </a:defRPr>
              </a:pPr>
              <a:r>
                <a:t>Обязательный компонент метапредметных результатов освоения основной образовательной программы</a:t>
              </a:r>
              <a:r>
                <a:rPr sz="2000"/>
                <a:t>:</a:t>
              </a:r>
            </a:p>
          </p:txBody>
        </p:sp>
      </p:grpSp>
      <p:sp>
        <p:nvSpPr>
          <p:cNvPr id="511" name="CustomShape 2"/>
          <p:cNvSpPr txBox="1"/>
          <p:nvPr/>
        </p:nvSpPr>
        <p:spPr>
          <a:xfrm>
            <a:off x="728639" y="3212999"/>
            <a:ext cx="7760162" cy="152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just">
              <a:lnSpc>
                <a:spcPct val="90000"/>
              </a:lnSpc>
              <a:spcBef>
                <a:spcPts val="400"/>
              </a:spcBef>
              <a:defRPr spc="-1"/>
            </a:pPr>
          </a:p>
          <a:p>
            <a:pPr algn="just">
              <a:lnSpc>
                <a:spcPct val="90000"/>
              </a:lnSpc>
              <a:spcBef>
                <a:spcPts val="500"/>
              </a:spcBef>
              <a:defRPr b="1" spc="-1" sz="2000">
                <a:solidFill>
                  <a:srgbClr val="404040"/>
                </a:solidFill>
                <a:latin typeface="Garamond"/>
                <a:ea typeface="Garamond"/>
                <a:cs typeface="Garamond"/>
                <a:sym typeface="Garamond"/>
              </a:defRPr>
            </a:pPr>
            <a:r>
              <a:t>- </a:t>
            </a:r>
            <a:r>
              <a:rPr sz="28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овладение навыками смыслового чтения текстов различных стилей и жанров в соответствии с целями и задачами;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2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10" grpId="1"/>
      <p:bldP build="whole" bldLvl="1" animBg="1" rev="0" advAuto="0" spid="511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0" y="214200"/>
            <a:ext cx="9143280" cy="1142280"/>
          </a:xfrm>
          <a:prstGeom prst="rect">
            <a:avLst/>
          </a:prstGeom>
          <a:gradFill>
            <a:gsLst>
              <a:gs pos="0">
                <a:srgbClr val="FDEADA"/>
              </a:gs>
              <a:gs pos="100000">
                <a:srgbClr val="FAC090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4" name="CustomShape 2"/>
          <p:cNvSpPr txBox="1"/>
          <p:nvPr/>
        </p:nvSpPr>
        <p:spPr>
          <a:xfrm>
            <a:off x="502200" y="1571760"/>
            <a:ext cx="8138880" cy="324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342359" indent="-341639" algn="ctr">
              <a:spcBef>
                <a:spcPts val="600"/>
              </a:spcBef>
              <a:defRPr b="1" spc="-1" sz="5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Смысловое чтение </a:t>
            </a:r>
          </a:p>
          <a:p>
            <a:pPr algn="just">
              <a:defRPr b="1" i="1" spc="-1" sz="14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</a:t>
            </a:r>
            <a:r>
              <a:rPr sz="4000"/>
              <a:t>это вид чтения, которое направлено на понимание читающим смыслового содержания текста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TextShape 1"/>
          <p:cNvSpPr txBox="1"/>
          <p:nvPr/>
        </p:nvSpPr>
        <p:spPr>
          <a:xfrm>
            <a:off x="693000" y="1655999"/>
            <a:ext cx="7254000" cy="4614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indent="698400" algn="just">
              <a:defRPr spc="-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 – VI классы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выделение главного в тексте;</a:t>
            </a: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составление примеров, аналогичных приведенным в тексте;</a:t>
            </a: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умение найти в тексте ответ на поставленный вопрос;</a:t>
            </a: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грамотно пересказать прочитанный текст.</a:t>
            </a:r>
          </a:p>
          <a:p>
            <a:pPr indent="698400" algn="just">
              <a:defRPr spc="-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t>II – VIII классы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умение составить план прочитанного;</a:t>
            </a: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воспроизводить текст по предложенному плану;</a:t>
            </a: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умение пользоваться образцами решения задач;</a:t>
            </a: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запоминание определений, формул, теорем.</a:t>
            </a:r>
          </a:p>
          <a:p>
            <a:pPr indent="698400" algn="just">
              <a:defRPr spc="-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IX – XI классы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работа с иллюстрациями (рисунками, чертежами, диаграммами);</a:t>
            </a: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использование новой теории в различных учебных и жизненных ситуациях;</a:t>
            </a: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подтверждение научных фактов;</a:t>
            </a:r>
          </a:p>
          <a:p>
            <a:pPr indent="698400" algn="just">
              <a:defRPr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*	конспектирование новой темы.</a:t>
            </a:r>
          </a:p>
        </p:txBody>
      </p:sp>
      <p:grpSp>
        <p:nvGrpSpPr>
          <p:cNvPr id="519" name="CustomShape 1"/>
          <p:cNvGrpSpPr/>
          <p:nvPr/>
        </p:nvGrpSpPr>
        <p:grpSpPr>
          <a:xfrm>
            <a:off x="457560" y="383722"/>
            <a:ext cx="8228880" cy="865416"/>
            <a:chOff x="0" y="0"/>
            <a:chExt cx="8228879" cy="865414"/>
          </a:xfrm>
        </p:grpSpPr>
        <p:sp>
          <p:nvSpPr>
            <p:cNvPr id="517" name="Прямоугольник"/>
            <p:cNvSpPr/>
            <p:nvPr/>
          </p:nvSpPr>
          <p:spPr>
            <a:xfrm>
              <a:off x="0" y="-1"/>
              <a:ext cx="8228880" cy="865416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2400"/>
              </a:pPr>
            </a:p>
          </p:txBody>
        </p:sp>
        <p:sp>
          <p:nvSpPr>
            <p:cNvPr id="518" name="ключевые направления формирования умений работы с текстом относят следующие:"/>
            <p:cNvSpPr txBox="1"/>
            <p:nvPr/>
          </p:nvSpPr>
          <p:spPr>
            <a:xfrm>
              <a:off x="45000" y="-1"/>
              <a:ext cx="8138880" cy="865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normAutofit fontScale="100000" lnSpcReduction="0"/>
            </a:bodyPr>
            <a:lstStyle>
              <a:lvl1pPr algn="ctr" defTabSz="649223">
                <a:defRPr sz="1703"/>
              </a:lvl1pPr>
            </a:lstStyle>
            <a:p>
              <a:pPr/>
              <a:r>
                <a:t>ключевые направления формирования умений работы с текстом относят следующие: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CustomShape 1"/>
          <p:cNvGrpSpPr/>
          <p:nvPr/>
        </p:nvGrpSpPr>
        <p:grpSpPr>
          <a:xfrm>
            <a:off x="534780" y="1100146"/>
            <a:ext cx="8074439" cy="4823642"/>
            <a:chOff x="0" y="0"/>
            <a:chExt cx="8074438" cy="4823640"/>
          </a:xfrm>
        </p:grpSpPr>
        <p:sp>
          <p:nvSpPr>
            <p:cNvPr id="523" name="Прямоугольник"/>
            <p:cNvSpPr/>
            <p:nvPr/>
          </p:nvSpPr>
          <p:spPr>
            <a:xfrm>
              <a:off x="0" y="-1"/>
              <a:ext cx="8074439" cy="4823642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15000"/>
                </a:lnSpc>
                <a:defRPr spc="-1"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24" name="Проблема 1. Многолетняя практика показывает, что при выполнении самостоятельной работы, тестов разного уровня обучающиеся допускают ошибки по причине непонимания формулировки задания. Проще говоря «дети не вчитываются в задание».…"/>
            <p:cNvSpPr txBox="1"/>
            <p:nvPr/>
          </p:nvSpPr>
          <p:spPr>
            <a:xfrm>
              <a:off x="45000" y="-1"/>
              <a:ext cx="7984439" cy="4823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normAutofit fontScale="100000" lnSpcReduction="0"/>
            </a:bodyPr>
            <a:lstStyle/>
            <a:p>
              <a:pPr>
                <a:lnSpc>
                  <a:spcPct val="115000"/>
                </a:lnSpc>
                <a:defRPr b="1" spc="-100"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	Проблема 1. Многолетняя практика показывает, что при выполнении самостоятельной работы, тестов разного уровня обучающиеся допускают ошибки по причине непонимания формулировки задания. Проще говоря «дети не вчитываются в задание». </a:t>
              </a:r>
              <a:endParaRPr spc="-1"/>
            </a:p>
            <a:p>
              <a:pPr>
                <a:lnSpc>
                  <a:spcPct val="115000"/>
                </a:lnSpc>
                <a:defRPr spc="-1"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  <a:p>
              <a:pPr>
                <a:lnSpc>
                  <a:spcPct val="115000"/>
                </a:lnSpc>
                <a:defRPr b="1" spc="-100"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	Проблема 2. Работа по формированию навыков смыслового чтения не должна ограничиваться только уроком и многократным обращением к одному и тому же тексту. </a:t>
              </a:r>
              <a:endParaRPr spc="-1"/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2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CustomShape 1"/>
          <p:cNvGrpSpPr/>
          <p:nvPr/>
        </p:nvGrpSpPr>
        <p:grpSpPr>
          <a:xfrm>
            <a:off x="611640" y="1124639"/>
            <a:ext cx="8074439" cy="4823642"/>
            <a:chOff x="0" y="0"/>
            <a:chExt cx="8074438" cy="4823640"/>
          </a:xfrm>
        </p:grpSpPr>
        <p:sp>
          <p:nvSpPr>
            <p:cNvPr id="527" name="Прямоугольник"/>
            <p:cNvSpPr/>
            <p:nvPr/>
          </p:nvSpPr>
          <p:spPr>
            <a:xfrm>
              <a:off x="0" y="-1"/>
              <a:ext cx="8074439" cy="4823642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15000"/>
                </a:lnSpc>
                <a:spcBef>
                  <a:spcPts val="1000"/>
                </a:spcBef>
              </a:pPr>
            </a:p>
          </p:txBody>
        </p:sp>
        <p:sp>
          <p:nvSpPr>
            <p:cNvPr id="528" name="Проблема 3. Использование в процессе обучения лишь традиционных технологий и методов обучения.…"/>
            <p:cNvSpPr txBox="1"/>
            <p:nvPr/>
          </p:nvSpPr>
          <p:spPr>
            <a:xfrm>
              <a:off x="45000" y="-1"/>
              <a:ext cx="7984439" cy="48236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normAutofit fontScale="100000" lnSpcReduction="0"/>
            </a:bodyPr>
            <a:lstStyle/>
            <a:p>
              <a:pPr>
                <a:lnSpc>
                  <a:spcPct val="115000"/>
                </a:lnSpc>
                <a:defRPr b="1" spc="-100"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	Проблема 3. Использование в процессе обучения лишь традиционных технологий и методов обучения. </a:t>
              </a:r>
              <a:endParaRPr spc="-1"/>
            </a:p>
            <a:p>
              <a:pPr>
                <a:lnSpc>
                  <a:spcPct val="115000"/>
                </a:lnSpc>
                <a:defRPr spc="-1"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  <a:p>
              <a:pPr>
                <a:lnSpc>
                  <a:spcPct val="115000"/>
                </a:lnSpc>
                <a:defRPr b="1" spc="-100"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	Проблема 4. Узкий круг самостоятельного детского чтения. </a:t>
              </a:r>
              <a:endParaRPr spc="-1"/>
            </a:p>
            <a:p>
              <a:pPr>
                <a:lnSpc>
                  <a:spcPct val="115000"/>
                </a:lnSpc>
                <a:defRPr b="1" spc="-100"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	Проблема 5. Низкий уровень читательской культуры родителей обучающихся. </a:t>
              </a:r>
              <a:endParaRPr spc="-1"/>
            </a:p>
            <a:p>
              <a:pPr>
                <a:lnSpc>
                  <a:spcPct val="115000"/>
                </a:lnSpc>
                <a:spcBef>
                  <a:spcPts val="1000"/>
                </a:spcBef>
                <a:defRPr b="1" spc="-100"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	Проблема 6. Незнание или непонимание психологических составляющих навыков смыслового чтения.</a:t>
              </a:r>
              <a:r>
                <a:rPr b="0"/>
                <a:t>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2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CustomShape 1"/>
          <p:cNvSpPr/>
          <p:nvPr/>
        </p:nvSpPr>
        <p:spPr>
          <a:xfrm>
            <a:off x="457200" y="1649185"/>
            <a:ext cx="8228880" cy="3698423"/>
          </a:xfrm>
          <a:prstGeom prst="rect">
            <a:avLst/>
          </a:prstGeom>
          <a:gradFill>
            <a:gsLst>
              <a:gs pos="0">
                <a:srgbClr val="FDEADA"/>
              </a:gs>
              <a:gs pos="100000">
                <a:srgbClr val="FAC090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34" name="CustomShape 2"/>
          <p:cNvGrpSpPr/>
          <p:nvPr/>
        </p:nvGrpSpPr>
        <p:grpSpPr>
          <a:xfrm>
            <a:off x="2313513" y="1706696"/>
            <a:ext cx="4190402" cy="775249"/>
            <a:chOff x="0" y="0"/>
            <a:chExt cx="4190400" cy="775248"/>
          </a:xfrm>
        </p:grpSpPr>
        <p:sp>
          <p:nvSpPr>
            <p:cNvPr id="532" name="Овал"/>
            <p:cNvSpPr/>
            <p:nvPr/>
          </p:nvSpPr>
          <p:spPr>
            <a:xfrm>
              <a:off x="-1" y="-1"/>
              <a:ext cx="4190402" cy="775250"/>
            </a:xfrm>
            <a:prstGeom prst="ellipse">
              <a:avLst/>
            </a:prstGeom>
            <a:solidFill>
              <a:schemeClr val="accent1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3200"/>
              </a:pPr>
            </a:p>
          </p:txBody>
        </p:sp>
        <p:sp>
          <p:nvSpPr>
            <p:cNvPr id="533" name="Тексты"/>
            <p:cNvSpPr txBox="1"/>
            <p:nvPr/>
          </p:nvSpPr>
          <p:spPr>
            <a:xfrm>
              <a:off x="1365574" y="116305"/>
              <a:ext cx="1459252" cy="542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4999" tIns="44999" rIns="44999" bIns="44999" numCol="1" anchor="ctr">
              <a:spAutoFit/>
            </a:bodyPr>
            <a:lstStyle>
              <a:lvl1pPr algn="ctr">
                <a:defRPr b="1" spc="-1" sz="3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Тексты</a:t>
              </a:r>
            </a:p>
          </p:txBody>
        </p:sp>
      </p:grpSp>
      <p:sp>
        <p:nvSpPr>
          <p:cNvPr id="535" name="Line 3"/>
          <p:cNvSpPr/>
          <p:nvPr/>
        </p:nvSpPr>
        <p:spPr>
          <a:xfrm flipH="1">
            <a:off x="2045327" y="2539452"/>
            <a:ext cx="1295281" cy="1067041"/>
          </a:xfrm>
          <a:prstGeom prst="line">
            <a:avLst/>
          </a:prstGeom>
          <a:ln w="936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36" name="Line 5"/>
          <p:cNvSpPr/>
          <p:nvPr/>
        </p:nvSpPr>
        <p:spPr>
          <a:xfrm>
            <a:off x="5859938" y="2481943"/>
            <a:ext cx="1523881" cy="914401"/>
          </a:xfrm>
          <a:prstGeom prst="line">
            <a:avLst/>
          </a:prstGeom>
          <a:ln w="936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39" name="CustomShape 6"/>
          <p:cNvGrpSpPr/>
          <p:nvPr/>
        </p:nvGrpSpPr>
        <p:grpSpPr>
          <a:xfrm>
            <a:off x="977219" y="3886200"/>
            <a:ext cx="3431496" cy="1314990"/>
            <a:chOff x="0" y="0"/>
            <a:chExt cx="3431494" cy="1314989"/>
          </a:xfrm>
        </p:grpSpPr>
        <p:sp>
          <p:nvSpPr>
            <p:cNvPr id="537" name="Овал"/>
            <p:cNvSpPr/>
            <p:nvPr/>
          </p:nvSpPr>
          <p:spPr>
            <a:xfrm>
              <a:off x="-1" y="0"/>
              <a:ext cx="3431496" cy="1314990"/>
            </a:xfrm>
            <a:prstGeom prst="ellipse">
              <a:avLst/>
            </a:prstGeom>
            <a:solidFill>
              <a:schemeClr val="accent1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2800"/>
              </a:pPr>
            </a:p>
          </p:txBody>
        </p:sp>
        <p:sp>
          <p:nvSpPr>
            <p:cNvPr id="538" name="Нехудожественные"/>
            <p:cNvSpPr txBox="1"/>
            <p:nvPr/>
          </p:nvSpPr>
          <p:spPr>
            <a:xfrm>
              <a:off x="146039" y="416848"/>
              <a:ext cx="3139416" cy="48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4999" tIns="44999" rIns="44999" bIns="44999" numCol="1" anchor="ctr">
              <a:spAutoFit/>
            </a:bodyPr>
            <a:lstStyle>
              <a:lvl1pPr algn="ctr">
                <a:defRPr b="1" spc="-1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Нехудожественные</a:t>
              </a:r>
            </a:p>
          </p:txBody>
        </p:sp>
      </p:grpSp>
      <p:grpSp>
        <p:nvGrpSpPr>
          <p:cNvPr id="542" name="CustomShape 8"/>
          <p:cNvGrpSpPr/>
          <p:nvPr/>
        </p:nvGrpSpPr>
        <p:grpSpPr>
          <a:xfrm>
            <a:off x="5220642" y="3791070"/>
            <a:ext cx="3129045" cy="1410121"/>
            <a:chOff x="0" y="0"/>
            <a:chExt cx="3129044" cy="1410120"/>
          </a:xfrm>
        </p:grpSpPr>
        <p:sp>
          <p:nvSpPr>
            <p:cNvPr id="540" name="Овал"/>
            <p:cNvSpPr/>
            <p:nvPr/>
          </p:nvSpPr>
          <p:spPr>
            <a:xfrm>
              <a:off x="-1" y="-1"/>
              <a:ext cx="3129046" cy="1410122"/>
            </a:xfrm>
            <a:prstGeom prst="ellipse">
              <a:avLst/>
            </a:prstGeom>
            <a:solidFill>
              <a:schemeClr val="accent1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2800"/>
              </a:pPr>
            </a:p>
          </p:txBody>
        </p:sp>
        <p:sp>
          <p:nvSpPr>
            <p:cNvPr id="541" name="Художественные"/>
            <p:cNvSpPr txBox="1"/>
            <p:nvPr/>
          </p:nvSpPr>
          <p:spPr>
            <a:xfrm>
              <a:off x="168840" y="464413"/>
              <a:ext cx="2791363" cy="48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4999" tIns="44999" rIns="44999" bIns="44999" numCol="1" anchor="ctr">
              <a:spAutoFit/>
            </a:bodyPr>
            <a:lstStyle>
              <a:lvl1pPr algn="ctr">
                <a:defRPr b="1" spc="-1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Художественные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3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CustomShape 1"/>
          <p:cNvSpPr/>
          <p:nvPr/>
        </p:nvSpPr>
        <p:spPr>
          <a:xfrm>
            <a:off x="457200" y="1461405"/>
            <a:ext cx="8228880" cy="4786395"/>
          </a:xfrm>
          <a:prstGeom prst="rect">
            <a:avLst/>
          </a:prstGeom>
          <a:gradFill>
            <a:gsLst>
              <a:gs pos="0">
                <a:srgbClr val="FDEADA"/>
              </a:gs>
              <a:gs pos="100000">
                <a:srgbClr val="FAC090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47" name="CustomShape 2"/>
          <p:cNvGrpSpPr/>
          <p:nvPr/>
        </p:nvGrpSpPr>
        <p:grpSpPr>
          <a:xfrm>
            <a:off x="1191987" y="1479971"/>
            <a:ext cx="6621234" cy="1071351"/>
            <a:chOff x="0" y="0"/>
            <a:chExt cx="6621233" cy="1071350"/>
          </a:xfrm>
        </p:grpSpPr>
        <p:sp>
          <p:nvSpPr>
            <p:cNvPr id="545" name="Овал"/>
            <p:cNvSpPr/>
            <p:nvPr/>
          </p:nvSpPr>
          <p:spPr>
            <a:xfrm>
              <a:off x="0" y="-1"/>
              <a:ext cx="6621234" cy="1071352"/>
            </a:xfrm>
            <a:prstGeom prst="ellipse">
              <a:avLst/>
            </a:prstGeom>
            <a:solidFill>
              <a:schemeClr val="accent1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2000"/>
              </a:pPr>
            </a:p>
          </p:txBody>
        </p:sp>
        <p:sp>
          <p:nvSpPr>
            <p:cNvPr id="546" name="Классификация текстов…"/>
            <p:cNvSpPr txBox="1"/>
            <p:nvPr/>
          </p:nvSpPr>
          <p:spPr>
            <a:xfrm>
              <a:off x="1838797" y="203969"/>
              <a:ext cx="2943640" cy="6634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4999" tIns="44999" rIns="44999" bIns="44999" numCol="1" anchor="ctr">
              <a:spAutoFit/>
            </a:bodyPr>
            <a:lstStyle/>
            <a:p>
              <a:pPr algn="ctr">
                <a:defRPr b="1" spc="-1" sz="2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Классификация текстов </a:t>
              </a:r>
            </a:p>
            <a:p>
              <a:pPr algn="ctr">
                <a:defRPr b="1" spc="-1" sz="2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по структуре</a:t>
              </a:r>
            </a:p>
          </p:txBody>
        </p:sp>
      </p:grpSp>
      <p:sp>
        <p:nvSpPr>
          <p:cNvPr id="548" name="Line 3"/>
          <p:cNvSpPr/>
          <p:nvPr/>
        </p:nvSpPr>
        <p:spPr>
          <a:xfrm flipH="1">
            <a:off x="2789498" y="2551321"/>
            <a:ext cx="525357" cy="304381"/>
          </a:xfrm>
          <a:prstGeom prst="line">
            <a:avLst/>
          </a:prstGeom>
          <a:ln w="936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49" name="Line 6"/>
          <p:cNvSpPr/>
          <p:nvPr/>
        </p:nvSpPr>
        <p:spPr>
          <a:xfrm>
            <a:off x="6400800" y="2551321"/>
            <a:ext cx="532440" cy="257761"/>
          </a:xfrm>
          <a:prstGeom prst="line">
            <a:avLst/>
          </a:prstGeom>
          <a:ln w="936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52" name="CustomShape 7"/>
          <p:cNvGrpSpPr/>
          <p:nvPr/>
        </p:nvGrpSpPr>
        <p:grpSpPr>
          <a:xfrm>
            <a:off x="1445567" y="2938242"/>
            <a:ext cx="2437562" cy="1218601"/>
            <a:chOff x="0" y="0"/>
            <a:chExt cx="2437560" cy="1218600"/>
          </a:xfrm>
        </p:grpSpPr>
        <p:sp>
          <p:nvSpPr>
            <p:cNvPr id="550" name="Овал"/>
            <p:cNvSpPr/>
            <p:nvPr/>
          </p:nvSpPr>
          <p:spPr>
            <a:xfrm>
              <a:off x="-1" y="-1"/>
              <a:ext cx="2437562" cy="1218602"/>
            </a:xfrm>
            <a:prstGeom prst="ellipse">
              <a:avLst/>
            </a:prstGeom>
            <a:solidFill>
              <a:schemeClr val="accent1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2000"/>
              </a:pPr>
            </a:p>
          </p:txBody>
        </p:sp>
        <p:sp>
          <p:nvSpPr>
            <p:cNvPr id="551" name="Сплошные"/>
            <p:cNvSpPr txBox="1"/>
            <p:nvPr/>
          </p:nvSpPr>
          <p:spPr>
            <a:xfrm>
              <a:off x="532379" y="423645"/>
              <a:ext cx="1372802" cy="3713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4999" tIns="44999" rIns="44999" bIns="44999" numCol="1" anchor="ctr">
              <a:spAutoFit/>
            </a:bodyPr>
            <a:lstStyle>
              <a:lvl1pPr algn="ctr">
                <a:defRPr b="1" spc="-1" sz="2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Сплошные</a:t>
              </a:r>
            </a:p>
          </p:txBody>
        </p:sp>
      </p:grpSp>
      <p:grpSp>
        <p:nvGrpSpPr>
          <p:cNvPr id="555" name="CustomShape 8"/>
          <p:cNvGrpSpPr/>
          <p:nvPr/>
        </p:nvGrpSpPr>
        <p:grpSpPr>
          <a:xfrm>
            <a:off x="1445567" y="4434837"/>
            <a:ext cx="2791698" cy="1508763"/>
            <a:chOff x="0" y="0"/>
            <a:chExt cx="2791696" cy="1508761"/>
          </a:xfrm>
        </p:grpSpPr>
        <p:sp>
          <p:nvSpPr>
            <p:cNvPr id="553" name="Овал"/>
            <p:cNvSpPr/>
            <p:nvPr/>
          </p:nvSpPr>
          <p:spPr>
            <a:xfrm>
              <a:off x="-1" y="0"/>
              <a:ext cx="2791698" cy="1508762"/>
            </a:xfrm>
            <a:prstGeom prst="ellipse">
              <a:avLst/>
            </a:prstGeom>
            <a:solidFill>
              <a:schemeClr val="accent1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1600"/>
              </a:pPr>
            </a:p>
          </p:txBody>
        </p:sp>
        <p:sp>
          <p:nvSpPr>
            <p:cNvPr id="554" name="Описание…"/>
            <p:cNvSpPr txBox="1"/>
            <p:nvPr/>
          </p:nvSpPr>
          <p:spPr>
            <a:xfrm>
              <a:off x="449626" y="369804"/>
              <a:ext cx="1892444" cy="769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4999" tIns="44999" rIns="44999" bIns="44999" numCol="1" anchor="ctr">
              <a:spAutoFit/>
            </a:bodyPr>
            <a:lstStyle/>
            <a:p>
              <a:pPr marL="342900" indent="-342900" algn="ctr">
                <a:buSzPct val="100000"/>
                <a:buFont typeface="Arial"/>
                <a:buChar char="•"/>
                <a:defRPr spc="-1" sz="1600"/>
              </a:pPr>
              <a:r>
                <a:t>Описание</a:t>
              </a:r>
            </a:p>
            <a:p>
              <a:pPr marL="342900" indent="-342900" algn="ctr">
                <a:buSzPct val="100000"/>
                <a:buFont typeface="Arial"/>
                <a:buChar char="•"/>
                <a:defRPr spc="-1" sz="1600"/>
              </a:pPr>
              <a:r>
                <a:t>Повествование</a:t>
              </a:r>
            </a:p>
            <a:p>
              <a:pPr marL="342900" indent="-342900" algn="ctr">
                <a:buSzPct val="100000"/>
                <a:buFont typeface="Arial"/>
                <a:buChar char="•"/>
                <a:defRPr spc="-1" sz="1600"/>
              </a:pPr>
              <a:r>
                <a:t>рассуждение</a:t>
              </a:r>
            </a:p>
          </p:txBody>
        </p:sp>
      </p:grpSp>
      <p:grpSp>
        <p:nvGrpSpPr>
          <p:cNvPr id="558" name="CustomShape 9"/>
          <p:cNvGrpSpPr/>
          <p:nvPr/>
        </p:nvGrpSpPr>
        <p:grpSpPr>
          <a:xfrm>
            <a:off x="5437042" y="4451360"/>
            <a:ext cx="3249039" cy="1402281"/>
            <a:chOff x="0" y="0"/>
            <a:chExt cx="3249038" cy="1402280"/>
          </a:xfrm>
        </p:grpSpPr>
        <p:sp>
          <p:nvSpPr>
            <p:cNvPr id="556" name="Овал"/>
            <p:cNvSpPr/>
            <p:nvPr/>
          </p:nvSpPr>
          <p:spPr>
            <a:xfrm>
              <a:off x="-1" y="-1"/>
              <a:ext cx="3249040" cy="1402282"/>
            </a:xfrm>
            <a:prstGeom prst="ellipse">
              <a:avLst/>
            </a:prstGeom>
            <a:solidFill>
              <a:schemeClr val="accent1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1600"/>
              </a:pPr>
            </a:p>
          </p:txBody>
        </p:sp>
        <p:sp>
          <p:nvSpPr>
            <p:cNvPr id="557" name="Графики…"/>
            <p:cNvSpPr txBox="1"/>
            <p:nvPr/>
          </p:nvSpPr>
          <p:spPr>
            <a:xfrm>
              <a:off x="857430" y="87963"/>
              <a:ext cx="1534178" cy="1226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4999" tIns="44999" rIns="44999" bIns="44999" numCol="1" anchor="ctr">
              <a:spAutoFit/>
            </a:bodyPr>
            <a:lstStyle/>
            <a:p>
              <a:pPr marL="342900" indent="-342900" algn="ctr">
                <a:buSzPct val="100000"/>
                <a:buFont typeface="Arial"/>
                <a:buChar char="•"/>
                <a:defRPr spc="-1" sz="1600"/>
              </a:pPr>
              <a:r>
                <a:t>Графики</a:t>
              </a:r>
            </a:p>
            <a:p>
              <a:pPr marL="342900" indent="-342900" algn="ctr">
                <a:buSzPct val="100000"/>
                <a:buFont typeface="Arial"/>
                <a:buChar char="•"/>
                <a:defRPr spc="-1" sz="1600"/>
              </a:pPr>
              <a:r>
                <a:t>Диаграммы</a:t>
              </a:r>
            </a:p>
            <a:p>
              <a:pPr marL="342900" indent="-342900" algn="ctr">
                <a:buSzPct val="100000"/>
                <a:buFont typeface="Arial"/>
                <a:buChar char="•"/>
                <a:defRPr spc="-1" sz="1600"/>
              </a:pPr>
              <a:r>
                <a:t>Схемы</a:t>
              </a:r>
            </a:p>
            <a:p>
              <a:pPr marL="342900" indent="-342900" algn="ctr">
                <a:buSzPct val="100000"/>
                <a:buFont typeface="Arial"/>
                <a:buChar char="•"/>
                <a:defRPr spc="-1" sz="1600"/>
              </a:pPr>
              <a:r>
                <a:t>Таблицы</a:t>
              </a:r>
            </a:p>
            <a:p>
              <a:pPr marL="342900" indent="-342900" algn="ctr">
                <a:buSzPct val="100000"/>
                <a:buFont typeface="Arial"/>
                <a:buChar char="•"/>
                <a:defRPr spc="-1" sz="1600"/>
              </a:pPr>
              <a:r>
                <a:t>карты</a:t>
              </a:r>
            </a:p>
          </p:txBody>
        </p:sp>
      </p:grpSp>
      <p:grpSp>
        <p:nvGrpSpPr>
          <p:cNvPr id="561" name="CustomShape 10"/>
          <p:cNvGrpSpPr/>
          <p:nvPr/>
        </p:nvGrpSpPr>
        <p:grpSpPr>
          <a:xfrm>
            <a:off x="5700819" y="2938242"/>
            <a:ext cx="2385721" cy="1438561"/>
            <a:chOff x="0" y="0"/>
            <a:chExt cx="2385720" cy="1438560"/>
          </a:xfrm>
        </p:grpSpPr>
        <p:sp>
          <p:nvSpPr>
            <p:cNvPr id="559" name="Овал"/>
            <p:cNvSpPr/>
            <p:nvPr/>
          </p:nvSpPr>
          <p:spPr>
            <a:xfrm>
              <a:off x="-1" y="-1"/>
              <a:ext cx="2385722" cy="1438562"/>
            </a:xfrm>
            <a:prstGeom prst="ellipse">
              <a:avLst/>
            </a:prstGeom>
            <a:solidFill>
              <a:schemeClr val="accent1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2000"/>
              </a:pPr>
            </a:p>
          </p:txBody>
        </p:sp>
        <p:sp>
          <p:nvSpPr>
            <p:cNvPr id="560" name="Несплошные"/>
            <p:cNvSpPr txBox="1"/>
            <p:nvPr/>
          </p:nvSpPr>
          <p:spPr>
            <a:xfrm>
              <a:off x="385230" y="533625"/>
              <a:ext cx="1615261" cy="3713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4999" tIns="44999" rIns="44999" bIns="44999" numCol="1" anchor="ctr">
              <a:spAutoFit/>
            </a:bodyPr>
            <a:lstStyle>
              <a:lvl1pPr algn="ctr">
                <a:defRPr b="1" spc="-1" sz="2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Несплошные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4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Заголовок 1"/>
          <p:cNvSpPr txBox="1"/>
          <p:nvPr>
            <p:ph type="title"/>
          </p:nvPr>
        </p:nvSpPr>
        <p:spPr>
          <a:xfrm>
            <a:off x="457199" y="222840"/>
            <a:ext cx="8229242" cy="124668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4" name="Прямоугольник 3"/>
          <p:cNvSpPr txBox="1"/>
          <p:nvPr/>
        </p:nvSpPr>
        <p:spPr>
          <a:xfrm>
            <a:off x="690697" y="2045063"/>
            <a:ext cx="7411541" cy="2210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/>
            </a:pPr>
            <a:r>
              <a:t>1 этап – Работа до чтения:</a:t>
            </a:r>
          </a:p>
          <a:p>
            <a:pPr>
              <a:defRPr sz="3600"/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ppaction://hlinksldjump" tgtFrame="" tooltip="" history="1" highlightClick="0" endSnd="0"/>
              </a:rPr>
              <a:t>«Попробуй найти!»</a:t>
            </a:r>
          </a:p>
          <a:p>
            <a:pPr>
              <a:defRPr sz="3600"/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ppaction://hlinksldjump" tgtFrame="" tooltip="" history="1" highlightClick="0" endSnd="0"/>
              </a:rPr>
              <a:t>«Банк гипотез»</a:t>
            </a:r>
          </a:p>
          <a:p>
            <a:pPr>
              <a:defRPr sz="3600"/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ppaction://hlinksldjump" tgtFrame="" tooltip="" history="1" highlightClick="0" endSnd="0"/>
              </a:rPr>
              <a:t>«Верите ли Вы?»</a:t>
            </a:r>
          </a:p>
        </p:txBody>
      </p:sp>
      <p:sp>
        <p:nvSpPr>
          <p:cNvPr id="565" name="CustomShape 1"/>
          <p:cNvSpPr txBox="1"/>
          <p:nvPr>
            <p:ph type="body" sz="quarter" idx="1"/>
          </p:nvPr>
        </p:nvSpPr>
        <p:spPr>
          <a:xfrm>
            <a:off x="424541" y="83995"/>
            <a:ext cx="8229242" cy="1246682"/>
          </a:xfrm>
          <a:prstGeom prst="rect">
            <a:avLst/>
          </a:prstGeom>
          <a:gradFill>
            <a:gsLst>
              <a:gs pos="0">
                <a:srgbClr val="FDEADA"/>
              </a:gs>
              <a:gs pos="100000">
                <a:srgbClr val="FAC090"/>
              </a:gs>
            </a:gsLst>
            <a:lin ang="5400000"/>
          </a:gradFill>
        </p:spPr>
        <p:txBody>
          <a:bodyPr lIns="44999" tIns="44999" rIns="44999" bIns="44999"/>
          <a:lstStyle/>
          <a:p>
            <a:pPr/>
            <a:r>
              <a:t>Работа с текстом учебника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Подзаголовок 2"/>
          <p:cNvSpPr txBox="1"/>
          <p:nvPr>
            <p:ph type="body" sz="quarter" idx="1"/>
          </p:nvPr>
        </p:nvSpPr>
        <p:spPr>
          <a:xfrm>
            <a:off x="595992" y="2805659"/>
            <a:ext cx="8229242" cy="1246681"/>
          </a:xfrm>
          <a:prstGeom prst="rect">
            <a:avLst/>
          </a:prstGeom>
        </p:spPr>
        <p:txBody>
          <a:bodyPr/>
          <a:lstStyle/>
          <a:p>
            <a:pPr marL="107442" indent="-107442" defTabSz="429768">
              <a:spcBef>
                <a:spcPts val="400"/>
              </a:spcBef>
              <a:defRPr sz="1504"/>
            </a:pPr>
            <a:r>
              <a:t>2 этап – Работа непосредственно с текстом учебника:</a:t>
            </a:r>
          </a:p>
          <a:p>
            <a:pPr marL="107442" indent="-107442" defTabSz="429768">
              <a:spcBef>
                <a:spcPts val="400"/>
              </a:spcBef>
              <a:defRPr sz="1504"/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ppaction://hlinksldjump" tgtFrame="" tooltip="" history="1" highlightClick="0" endSnd="0"/>
              </a:rPr>
              <a:t>«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ppaction://hlinksldjump" tgtFrame="" tooltip="" history="1" highlightClick="0" endSnd="0"/>
              </a:rPr>
              <a:t>Инсерт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ppaction://hlinksldjump" tgtFrame="" tooltip="" history="1" highlightClick="0" endSnd="0"/>
              </a:rPr>
              <a:t>»</a:t>
            </a:r>
          </a:p>
          <a:p>
            <a:pPr marL="107442" indent="-107442" defTabSz="429768">
              <a:spcBef>
                <a:spcPts val="400"/>
              </a:spcBef>
              <a:defRPr sz="1504"/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ppaction://hlinksldjump" tgtFrame="" tooltip="" history="1" highlightClick="0" endSnd="0"/>
              </a:rPr>
              <a:t>«План»</a:t>
            </a:r>
          </a:p>
          <a:p>
            <a:pPr marL="107442" indent="-107442" defTabSz="429768">
              <a:spcBef>
                <a:spcPts val="400"/>
              </a:spcBef>
              <a:defRPr sz="1504"/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ppaction://hlinksldjump" tgtFrame="" tooltip="" history="1" highlightClick="0" endSnd="0"/>
              </a:rPr>
              <a:t>«Тезисы»</a:t>
            </a:r>
          </a:p>
        </p:txBody>
      </p:sp>
      <p:sp>
        <p:nvSpPr>
          <p:cNvPr id="568" name="CustomShape 1"/>
          <p:cNvSpPr txBox="1"/>
          <p:nvPr>
            <p:ph type="title"/>
          </p:nvPr>
        </p:nvSpPr>
        <p:spPr>
          <a:xfrm>
            <a:off x="595992" y="92210"/>
            <a:ext cx="8229242" cy="1246682"/>
          </a:xfrm>
          <a:prstGeom prst="rect">
            <a:avLst/>
          </a:prstGeom>
          <a:gradFill>
            <a:gsLst>
              <a:gs pos="0">
                <a:srgbClr val="FDEADA"/>
              </a:gs>
              <a:gs pos="100000">
                <a:srgbClr val="FAC090"/>
              </a:gs>
            </a:gsLst>
            <a:lin ang="5400000"/>
          </a:gradFill>
        </p:spPr>
        <p:txBody>
          <a:bodyPr lIns="44999" tIns="44999" rIns="44999" bIns="44999"/>
          <a:lstStyle/>
          <a:p>
            <a:pPr/>
            <a:r>
              <a:t>Работа с текстом учебника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Подзаголовок 2"/>
          <p:cNvSpPr txBox="1"/>
          <p:nvPr>
            <p:ph type="body" sz="quarter" idx="1"/>
          </p:nvPr>
        </p:nvSpPr>
        <p:spPr>
          <a:xfrm>
            <a:off x="595992" y="2805659"/>
            <a:ext cx="8229242" cy="1246681"/>
          </a:xfrm>
          <a:prstGeom prst="rect">
            <a:avLst/>
          </a:prstGeom>
        </p:spPr>
        <p:txBody>
          <a:bodyPr/>
          <a:lstStyle/>
          <a:p>
            <a:pPr marL="107442" indent="-107442" defTabSz="429768">
              <a:spcBef>
                <a:spcPts val="400"/>
              </a:spcBef>
              <a:defRPr sz="1504"/>
            </a:pPr>
            <a:r>
              <a:t>3 этап – После чтения:</a:t>
            </a:r>
          </a:p>
          <a:p>
            <a:pPr marL="107442" indent="-107442" defTabSz="429768">
              <a:spcBef>
                <a:spcPts val="400"/>
              </a:spcBef>
              <a:defRPr sz="1504"/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ppaction://hlinksldjump" tgtFrame="" tooltip="" history="1" highlightClick="0" endSnd="0"/>
              </a:rPr>
              <a:t>«Дерево знаний»</a:t>
            </a:r>
          </a:p>
          <a:p>
            <a:pPr marL="107442" indent="-107442" defTabSz="429768">
              <a:spcBef>
                <a:spcPts val="400"/>
              </a:spcBef>
              <a:defRPr sz="1504"/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ppaction://hlinksldjump" tgtFrame="" tooltip="" history="1" highlightClick="0" endSnd="0"/>
              </a:rPr>
              <a:t>«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ppaction://hlinksldjump" tgtFrame="" tooltip="" history="1" highlightClick="0" endSnd="0"/>
              </a:rPr>
              <a:t>Фишбоун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ppaction://hlinksldjump" tgtFrame="" tooltip="" history="1" highlightClick="0" endSnd="0"/>
              </a:rPr>
              <a:t>»</a:t>
            </a:r>
          </a:p>
          <a:p>
            <a:pPr marL="107442" indent="-107442" defTabSz="429768">
              <a:spcBef>
                <a:spcPts val="400"/>
              </a:spcBef>
              <a:defRPr sz="1504"/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ppaction://hlinksldjump" tgtFrame="" tooltip="" history="1" highlightClick="0" endSnd="0"/>
              </a:rPr>
              <a:t>«Кубик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ppaction://hlinksldjump" tgtFrame="" tooltip="" history="1" highlightClick="0" endSnd="0"/>
              </a:rPr>
              <a:t>Блума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ppaction://hlinksldjump" tgtFrame="" tooltip="" history="1" highlightClick="0" endSnd="0"/>
              </a:rPr>
              <a:t>»</a:t>
            </a:r>
          </a:p>
        </p:txBody>
      </p:sp>
      <p:sp>
        <p:nvSpPr>
          <p:cNvPr id="571" name="CustomShape 1"/>
          <p:cNvSpPr txBox="1"/>
          <p:nvPr>
            <p:ph type="title"/>
          </p:nvPr>
        </p:nvSpPr>
        <p:spPr>
          <a:xfrm>
            <a:off x="457379" y="59554"/>
            <a:ext cx="8229242" cy="1246682"/>
          </a:xfrm>
          <a:prstGeom prst="rect">
            <a:avLst/>
          </a:prstGeom>
          <a:gradFill>
            <a:gsLst>
              <a:gs pos="0">
                <a:srgbClr val="FDEADA"/>
              </a:gs>
              <a:gs pos="100000">
                <a:srgbClr val="FAC090"/>
              </a:gs>
            </a:gsLst>
            <a:lin ang="5400000"/>
          </a:gradFill>
        </p:spPr>
        <p:txBody>
          <a:bodyPr lIns="44999" tIns="44999" rIns="44999" bIns="44999"/>
          <a:lstStyle/>
          <a:p>
            <a:pPr/>
            <a:r>
              <a:t>Работа с текстом учебника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Прямоугольник"/>
          <p:cNvSpPr/>
          <p:nvPr/>
        </p:nvSpPr>
        <p:spPr>
          <a:xfrm>
            <a:off x="457560" y="175706"/>
            <a:ext cx="8228880" cy="1367281"/>
          </a:xfrm>
          <a:prstGeom prst="rect">
            <a:avLst/>
          </a:prstGeom>
          <a:gradFill>
            <a:gsLst>
              <a:gs pos="0">
                <a:srgbClr val="FDEADA"/>
              </a:gs>
              <a:gs pos="100000">
                <a:srgbClr val="FAC090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pc="-1" sz="4400"/>
            </a:pPr>
          </a:p>
        </p:txBody>
      </p:sp>
      <p:sp>
        <p:nvSpPr>
          <p:cNvPr id="574" name="«Попробуй найти»"/>
          <p:cNvSpPr txBox="1"/>
          <p:nvPr/>
        </p:nvSpPr>
        <p:spPr>
          <a:xfrm>
            <a:off x="502560" y="175706"/>
            <a:ext cx="8138881" cy="136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 anchor="ctr">
            <a:normAutofit fontScale="100000" lnSpcReduction="0"/>
          </a:bodyPr>
          <a:lstStyle>
            <a:lvl1pPr algn="ctr">
              <a:defRPr b="1" spc="-100"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«Попробуй найти»</a:t>
            </a:r>
          </a:p>
        </p:txBody>
      </p:sp>
      <p:sp>
        <p:nvSpPr>
          <p:cNvPr id="575" name="CustomShape 2"/>
          <p:cNvSpPr txBox="1"/>
          <p:nvPr/>
        </p:nvSpPr>
        <p:spPr>
          <a:xfrm>
            <a:off x="502200" y="1600200"/>
            <a:ext cx="8138880" cy="499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normAutofit fontScale="100000" lnSpcReduction="0"/>
          </a:bodyPr>
          <a:lstStyle>
            <a:lvl1pPr marL="342359" indent="-341639">
              <a:spcBef>
                <a:spcPts val="600"/>
              </a:spcBef>
              <a:defRPr sz="2800">
                <a:solidFill>
                  <a:srgbClr val="1F497D"/>
                </a:solidFill>
              </a:defRPr>
            </a:lvl1pPr>
          </a:lstStyle>
          <a:p>
            <a:pPr/>
            <a:r>
              <a:t>		Учитель сообщает классу название параграфа. Ученики должны быстро с помощью оглавления найти данный раздел учебника и зачитать несколько строк из него. Во время игры развиваются внимательность, быстрота реакции, ориентация в логическом изложении математического материала в учебнике.</a:t>
            </a:r>
          </a:p>
        </p:txBody>
      </p:sp>
      <p:grpSp>
        <p:nvGrpSpPr>
          <p:cNvPr id="580" name="Управляющая кнопка: домой 3">
            <a:hlinkClick r:id="rId2" invalidUrl="" action="ppaction://hlinksldjump" tgtFrame="" tooltip="" history="1" highlightClick="0" endSnd="0"/>
          </p:cNvPr>
          <p:cNvGrpSpPr/>
          <p:nvPr/>
        </p:nvGrpSpPr>
        <p:grpSpPr>
          <a:xfrm>
            <a:off x="7347856" y="6425293"/>
            <a:ext cx="375558" cy="310244"/>
            <a:chOff x="0" y="0"/>
            <a:chExt cx="375556" cy="310243"/>
          </a:xfrm>
        </p:grpSpPr>
        <p:sp>
          <p:nvSpPr>
            <p:cNvPr id="576" name="Прямоугольник"/>
            <p:cNvSpPr/>
            <p:nvPr/>
          </p:nvSpPr>
          <p:spPr>
            <a:xfrm>
              <a:off x="0" y="-1"/>
              <a:ext cx="375557" cy="3102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77" name="Фигура"/>
            <p:cNvSpPr/>
            <p:nvPr/>
          </p:nvSpPr>
          <p:spPr>
            <a:xfrm>
              <a:off x="100522" y="53322"/>
              <a:ext cx="174513" cy="218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800" y="5760"/>
                  </a:moveTo>
                  <a:lnTo>
                    <a:pt x="19800" y="0"/>
                  </a:lnTo>
                  <a:lnTo>
                    <a:pt x="16200" y="0"/>
                  </a:lnTo>
                  <a:lnTo>
                    <a:pt x="16200" y="2880"/>
                  </a:lnTo>
                  <a:close/>
                  <a:moveTo>
                    <a:pt x="0" y="10080"/>
                  </a:moveTo>
                  <a:lnTo>
                    <a:pt x="0" y="21600"/>
                  </a:lnTo>
                  <a:lnTo>
                    <a:pt x="9000" y="21600"/>
                  </a:lnTo>
                  <a:lnTo>
                    <a:pt x="9000" y="15840"/>
                  </a:lnTo>
                  <a:lnTo>
                    <a:pt x="12600" y="15840"/>
                  </a:lnTo>
                  <a:lnTo>
                    <a:pt x="12600" y="21600"/>
                  </a:lnTo>
                  <a:lnTo>
                    <a:pt x="21600" y="21600"/>
                  </a:lnTo>
                  <a:lnTo>
                    <a:pt x="21600" y="1008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78" name="Фигура"/>
            <p:cNvSpPr/>
            <p:nvPr/>
          </p:nvSpPr>
          <p:spPr>
            <a:xfrm>
              <a:off x="71436" y="38779"/>
              <a:ext cx="232684" cy="2326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0" y="10800"/>
                  </a:lnTo>
                  <a:lnTo>
                    <a:pt x="21600" y="10800"/>
                  </a:lnTo>
                  <a:close/>
                  <a:moveTo>
                    <a:pt x="9450" y="16200"/>
                  </a:moveTo>
                  <a:lnTo>
                    <a:pt x="12150" y="16200"/>
                  </a:lnTo>
                  <a:lnTo>
                    <a:pt x="12150" y="21600"/>
                  </a:lnTo>
                  <a:lnTo>
                    <a:pt x="9450" y="216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79" name="Фигура"/>
            <p:cNvSpPr/>
            <p:nvPr/>
          </p:nvSpPr>
          <p:spPr>
            <a:xfrm>
              <a:off x="0" y="-1"/>
              <a:ext cx="375558" cy="310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700"/>
                  </a:moveTo>
                  <a:lnTo>
                    <a:pt x="13309" y="5737"/>
                  </a:lnTo>
                  <a:lnTo>
                    <a:pt x="13309" y="3712"/>
                  </a:lnTo>
                  <a:lnTo>
                    <a:pt x="14982" y="3712"/>
                  </a:lnTo>
                  <a:lnTo>
                    <a:pt x="14982" y="7763"/>
                  </a:lnTo>
                  <a:lnTo>
                    <a:pt x="17491" y="10800"/>
                  </a:lnTo>
                  <a:lnTo>
                    <a:pt x="15818" y="10800"/>
                  </a:lnTo>
                  <a:lnTo>
                    <a:pt x="15818" y="18900"/>
                  </a:lnTo>
                  <a:lnTo>
                    <a:pt x="5782" y="18900"/>
                  </a:lnTo>
                  <a:lnTo>
                    <a:pt x="5782" y="10800"/>
                  </a:lnTo>
                  <a:lnTo>
                    <a:pt x="4109" y="10800"/>
                  </a:lnTo>
                  <a:close/>
                  <a:moveTo>
                    <a:pt x="13309" y="5737"/>
                  </a:moveTo>
                  <a:lnTo>
                    <a:pt x="14982" y="7763"/>
                  </a:lnTo>
                  <a:moveTo>
                    <a:pt x="15818" y="10800"/>
                  </a:moveTo>
                  <a:lnTo>
                    <a:pt x="5782" y="10800"/>
                  </a:lnTo>
                  <a:moveTo>
                    <a:pt x="9964" y="18900"/>
                  </a:moveTo>
                  <a:lnTo>
                    <a:pt x="9964" y="14850"/>
                  </a:lnTo>
                  <a:lnTo>
                    <a:pt x="11636" y="14850"/>
                  </a:lnTo>
                  <a:lnTo>
                    <a:pt x="11636" y="18900"/>
                  </a:lnTo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CustomShape 1"/>
          <p:cNvGrpSpPr/>
          <p:nvPr/>
        </p:nvGrpSpPr>
        <p:grpSpPr>
          <a:xfrm>
            <a:off x="457200" y="188639"/>
            <a:ext cx="8228880" cy="1367282"/>
            <a:chOff x="0" y="0"/>
            <a:chExt cx="8228879" cy="1367280"/>
          </a:xfrm>
        </p:grpSpPr>
        <p:sp>
          <p:nvSpPr>
            <p:cNvPr id="582" name="Прямоугольник"/>
            <p:cNvSpPr/>
            <p:nvPr/>
          </p:nvSpPr>
          <p:spPr>
            <a:xfrm>
              <a:off x="0" y="-1"/>
              <a:ext cx="8228880" cy="1367282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4400"/>
              </a:pPr>
            </a:p>
          </p:txBody>
        </p:sp>
        <p:sp>
          <p:nvSpPr>
            <p:cNvPr id="583" name="«Банк гипотез»"/>
            <p:cNvSpPr txBox="1"/>
            <p:nvPr/>
          </p:nvSpPr>
          <p:spPr>
            <a:xfrm>
              <a:off x="45000" y="-1"/>
              <a:ext cx="8138880" cy="13672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normAutofit fontScale="100000" lnSpcReduction="0"/>
            </a:bodyPr>
            <a:lstStyle>
              <a:lvl1pPr algn="ctr">
                <a:defRPr b="1" spc="-100" sz="4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«Банк гипотез»</a:t>
              </a:r>
            </a:p>
          </p:txBody>
        </p:sp>
      </p:grpSp>
      <p:sp>
        <p:nvSpPr>
          <p:cNvPr id="585" name="CustomShape 2"/>
          <p:cNvSpPr txBox="1"/>
          <p:nvPr/>
        </p:nvSpPr>
        <p:spPr>
          <a:xfrm>
            <a:off x="502200" y="1600200"/>
            <a:ext cx="8138880" cy="499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normAutofit fontScale="100000" lnSpcReduction="0"/>
          </a:bodyPr>
          <a:lstStyle/>
          <a:p>
            <a:pPr algn="just">
              <a:defRPr sz="2800">
                <a:solidFill>
                  <a:srgbClr val="1F497D"/>
                </a:solidFill>
              </a:defRPr>
            </a:pPr>
            <a:r>
              <a:t>		</a:t>
            </a:r>
            <a:r>
              <a:rPr sz="2400"/>
              <a:t>Ученики «складывают» свои мысли о том, что будет сегодня на уроке изучаться в некий виртуальный банк. Можно предложения учеников записать на отдельных листочках, сложить в коробочку (банк). </a:t>
            </a:r>
            <a:endParaRPr sz="2400"/>
          </a:p>
          <a:p>
            <a:pPr algn="just">
              <a:defRPr sz="2400">
                <a:solidFill>
                  <a:srgbClr val="1F497D"/>
                </a:solidFill>
              </a:defRPr>
            </a:pPr>
            <a:r>
              <a:t>Этот приём научит учеников выдвигать гипотезы исследования и определять, доказаны они или опровергнуты, что очень важно для формирования навыков научно – исследовательской деятельности учащихся при работе с литературой.</a:t>
            </a:r>
          </a:p>
        </p:txBody>
      </p:sp>
      <p:grpSp>
        <p:nvGrpSpPr>
          <p:cNvPr id="590" name="Управляющая кнопка: домой 3">
            <a:hlinkClick r:id="rId2" invalidUrl="" action="ppaction://hlinksldjump" tgtFrame="" tooltip="" history="1" highlightClick="0" endSnd="0"/>
          </p:cNvPr>
          <p:cNvGrpSpPr/>
          <p:nvPr/>
        </p:nvGrpSpPr>
        <p:grpSpPr>
          <a:xfrm>
            <a:off x="7347856" y="6425293"/>
            <a:ext cx="375558" cy="310244"/>
            <a:chOff x="0" y="0"/>
            <a:chExt cx="375556" cy="310243"/>
          </a:xfrm>
        </p:grpSpPr>
        <p:sp>
          <p:nvSpPr>
            <p:cNvPr id="586" name="Прямоугольник"/>
            <p:cNvSpPr/>
            <p:nvPr/>
          </p:nvSpPr>
          <p:spPr>
            <a:xfrm>
              <a:off x="0" y="-1"/>
              <a:ext cx="375557" cy="3102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87" name="Фигура"/>
            <p:cNvSpPr/>
            <p:nvPr/>
          </p:nvSpPr>
          <p:spPr>
            <a:xfrm>
              <a:off x="100522" y="53322"/>
              <a:ext cx="174513" cy="218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800" y="5760"/>
                  </a:moveTo>
                  <a:lnTo>
                    <a:pt x="19800" y="0"/>
                  </a:lnTo>
                  <a:lnTo>
                    <a:pt x="16200" y="0"/>
                  </a:lnTo>
                  <a:lnTo>
                    <a:pt x="16200" y="2880"/>
                  </a:lnTo>
                  <a:close/>
                  <a:moveTo>
                    <a:pt x="0" y="10080"/>
                  </a:moveTo>
                  <a:lnTo>
                    <a:pt x="0" y="21600"/>
                  </a:lnTo>
                  <a:lnTo>
                    <a:pt x="9000" y="21600"/>
                  </a:lnTo>
                  <a:lnTo>
                    <a:pt x="9000" y="15840"/>
                  </a:lnTo>
                  <a:lnTo>
                    <a:pt x="12600" y="15840"/>
                  </a:lnTo>
                  <a:lnTo>
                    <a:pt x="12600" y="21600"/>
                  </a:lnTo>
                  <a:lnTo>
                    <a:pt x="21600" y="21600"/>
                  </a:lnTo>
                  <a:lnTo>
                    <a:pt x="21600" y="1008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88" name="Фигура"/>
            <p:cNvSpPr/>
            <p:nvPr/>
          </p:nvSpPr>
          <p:spPr>
            <a:xfrm>
              <a:off x="71436" y="38779"/>
              <a:ext cx="232684" cy="2326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0" y="10800"/>
                  </a:lnTo>
                  <a:lnTo>
                    <a:pt x="21600" y="10800"/>
                  </a:lnTo>
                  <a:close/>
                  <a:moveTo>
                    <a:pt x="9450" y="16200"/>
                  </a:moveTo>
                  <a:lnTo>
                    <a:pt x="12150" y="16200"/>
                  </a:lnTo>
                  <a:lnTo>
                    <a:pt x="12150" y="21600"/>
                  </a:lnTo>
                  <a:lnTo>
                    <a:pt x="9450" y="216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89" name="Фигура"/>
            <p:cNvSpPr/>
            <p:nvPr/>
          </p:nvSpPr>
          <p:spPr>
            <a:xfrm>
              <a:off x="0" y="-1"/>
              <a:ext cx="375558" cy="310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700"/>
                  </a:moveTo>
                  <a:lnTo>
                    <a:pt x="13309" y="5737"/>
                  </a:lnTo>
                  <a:lnTo>
                    <a:pt x="13309" y="3712"/>
                  </a:lnTo>
                  <a:lnTo>
                    <a:pt x="14982" y="3712"/>
                  </a:lnTo>
                  <a:lnTo>
                    <a:pt x="14982" y="7763"/>
                  </a:lnTo>
                  <a:lnTo>
                    <a:pt x="17491" y="10800"/>
                  </a:lnTo>
                  <a:lnTo>
                    <a:pt x="15818" y="10800"/>
                  </a:lnTo>
                  <a:lnTo>
                    <a:pt x="15818" y="18900"/>
                  </a:lnTo>
                  <a:lnTo>
                    <a:pt x="5782" y="18900"/>
                  </a:lnTo>
                  <a:lnTo>
                    <a:pt x="5782" y="10800"/>
                  </a:lnTo>
                  <a:lnTo>
                    <a:pt x="4109" y="10800"/>
                  </a:lnTo>
                  <a:close/>
                  <a:moveTo>
                    <a:pt x="13309" y="5737"/>
                  </a:moveTo>
                  <a:lnTo>
                    <a:pt x="14982" y="7763"/>
                  </a:lnTo>
                  <a:moveTo>
                    <a:pt x="15818" y="10800"/>
                  </a:moveTo>
                  <a:lnTo>
                    <a:pt x="5782" y="10800"/>
                  </a:lnTo>
                  <a:moveTo>
                    <a:pt x="9964" y="18900"/>
                  </a:moveTo>
                  <a:lnTo>
                    <a:pt x="9964" y="14850"/>
                  </a:lnTo>
                  <a:lnTo>
                    <a:pt x="11636" y="14850"/>
                  </a:lnTo>
                  <a:lnTo>
                    <a:pt x="11636" y="18900"/>
                  </a:lnTo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CustomShape 1"/>
          <p:cNvGrpSpPr/>
          <p:nvPr/>
        </p:nvGrpSpPr>
        <p:grpSpPr>
          <a:xfrm>
            <a:off x="457200" y="188639"/>
            <a:ext cx="8228880" cy="1367282"/>
            <a:chOff x="0" y="0"/>
            <a:chExt cx="8228879" cy="1367280"/>
          </a:xfrm>
        </p:grpSpPr>
        <p:sp>
          <p:nvSpPr>
            <p:cNvPr id="592" name="Прямоугольник"/>
            <p:cNvSpPr/>
            <p:nvPr/>
          </p:nvSpPr>
          <p:spPr>
            <a:xfrm>
              <a:off x="0" y="-1"/>
              <a:ext cx="8228880" cy="1367282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4400"/>
              </a:pPr>
            </a:p>
          </p:txBody>
        </p:sp>
        <p:sp>
          <p:nvSpPr>
            <p:cNvPr id="593" name="«Верите ли Вы?»"/>
            <p:cNvSpPr txBox="1"/>
            <p:nvPr/>
          </p:nvSpPr>
          <p:spPr>
            <a:xfrm>
              <a:off x="45000" y="-1"/>
              <a:ext cx="8138880" cy="13672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normAutofit fontScale="100000" lnSpcReduction="0"/>
            </a:bodyPr>
            <a:lstStyle>
              <a:lvl1pPr algn="ctr">
                <a:defRPr b="1" spc="-100" sz="4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«Верите ли Вы?»</a:t>
              </a:r>
            </a:p>
          </p:txBody>
        </p:sp>
      </p:grpSp>
      <p:sp>
        <p:nvSpPr>
          <p:cNvPr id="595" name="CustomShape 2"/>
          <p:cNvSpPr txBox="1"/>
          <p:nvPr/>
        </p:nvSpPr>
        <p:spPr>
          <a:xfrm>
            <a:off x="502200" y="1600200"/>
            <a:ext cx="8138880" cy="499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normAutofit fontScale="100000" lnSpcReduction="0"/>
          </a:bodyPr>
          <a:lstStyle/>
          <a:p>
            <a:pPr algn="just">
              <a:defRPr sz="2800">
                <a:solidFill>
                  <a:srgbClr val="1F497D"/>
                </a:solidFill>
              </a:defRPr>
            </a:pPr>
            <a:r>
              <a:t>		</a:t>
            </a:r>
          </a:p>
          <a:p>
            <a:pPr algn="just">
              <a:defRPr sz="2800">
                <a:solidFill>
                  <a:srgbClr val="1F497D"/>
                </a:solidFill>
              </a:defRPr>
            </a:pPr>
          </a:p>
          <a:p>
            <a:pPr algn="just">
              <a:defRPr sz="2800">
                <a:solidFill>
                  <a:srgbClr val="1F497D"/>
                </a:solidFill>
              </a:defRPr>
            </a:pPr>
            <a:r>
              <a:t>	М</a:t>
            </a:r>
            <a:r>
              <a:rPr sz="2400"/>
              <a:t>ожет быть началом урока, когда учащиеся, выбирая «верные утверждения» из предложенных учителем, описывают заданную тему.</a:t>
            </a:r>
          </a:p>
        </p:txBody>
      </p:sp>
      <p:grpSp>
        <p:nvGrpSpPr>
          <p:cNvPr id="600" name="Управляющая кнопка: домой 3">
            <a:hlinkClick r:id="rId2" invalidUrl="" action="ppaction://hlinksldjump" tgtFrame="" tooltip="" history="1" highlightClick="0" endSnd="0"/>
          </p:cNvPr>
          <p:cNvGrpSpPr/>
          <p:nvPr/>
        </p:nvGrpSpPr>
        <p:grpSpPr>
          <a:xfrm>
            <a:off x="7347856" y="6425293"/>
            <a:ext cx="375558" cy="310244"/>
            <a:chOff x="0" y="0"/>
            <a:chExt cx="375556" cy="310243"/>
          </a:xfrm>
        </p:grpSpPr>
        <p:sp>
          <p:nvSpPr>
            <p:cNvPr id="596" name="Прямоугольник"/>
            <p:cNvSpPr/>
            <p:nvPr/>
          </p:nvSpPr>
          <p:spPr>
            <a:xfrm>
              <a:off x="0" y="-1"/>
              <a:ext cx="375557" cy="3102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7" name="Фигура"/>
            <p:cNvSpPr/>
            <p:nvPr/>
          </p:nvSpPr>
          <p:spPr>
            <a:xfrm>
              <a:off x="100522" y="53322"/>
              <a:ext cx="174513" cy="218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800" y="5760"/>
                  </a:moveTo>
                  <a:lnTo>
                    <a:pt x="19800" y="0"/>
                  </a:lnTo>
                  <a:lnTo>
                    <a:pt x="16200" y="0"/>
                  </a:lnTo>
                  <a:lnTo>
                    <a:pt x="16200" y="2880"/>
                  </a:lnTo>
                  <a:close/>
                  <a:moveTo>
                    <a:pt x="0" y="10080"/>
                  </a:moveTo>
                  <a:lnTo>
                    <a:pt x="0" y="21600"/>
                  </a:lnTo>
                  <a:lnTo>
                    <a:pt x="9000" y="21600"/>
                  </a:lnTo>
                  <a:lnTo>
                    <a:pt x="9000" y="15840"/>
                  </a:lnTo>
                  <a:lnTo>
                    <a:pt x="12600" y="15840"/>
                  </a:lnTo>
                  <a:lnTo>
                    <a:pt x="12600" y="21600"/>
                  </a:lnTo>
                  <a:lnTo>
                    <a:pt x="21600" y="21600"/>
                  </a:lnTo>
                  <a:lnTo>
                    <a:pt x="21600" y="1008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8" name="Фигура"/>
            <p:cNvSpPr/>
            <p:nvPr/>
          </p:nvSpPr>
          <p:spPr>
            <a:xfrm>
              <a:off x="71436" y="38779"/>
              <a:ext cx="232684" cy="2326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0" y="10800"/>
                  </a:lnTo>
                  <a:lnTo>
                    <a:pt x="21600" y="10800"/>
                  </a:lnTo>
                  <a:close/>
                  <a:moveTo>
                    <a:pt x="9450" y="16200"/>
                  </a:moveTo>
                  <a:lnTo>
                    <a:pt x="12150" y="16200"/>
                  </a:lnTo>
                  <a:lnTo>
                    <a:pt x="12150" y="21600"/>
                  </a:lnTo>
                  <a:lnTo>
                    <a:pt x="9450" y="216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9" name="Фигура"/>
            <p:cNvSpPr/>
            <p:nvPr/>
          </p:nvSpPr>
          <p:spPr>
            <a:xfrm>
              <a:off x="0" y="-1"/>
              <a:ext cx="375558" cy="310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700"/>
                  </a:moveTo>
                  <a:lnTo>
                    <a:pt x="13309" y="5737"/>
                  </a:lnTo>
                  <a:lnTo>
                    <a:pt x="13309" y="3712"/>
                  </a:lnTo>
                  <a:lnTo>
                    <a:pt x="14982" y="3712"/>
                  </a:lnTo>
                  <a:lnTo>
                    <a:pt x="14982" y="7763"/>
                  </a:lnTo>
                  <a:lnTo>
                    <a:pt x="17491" y="10800"/>
                  </a:lnTo>
                  <a:lnTo>
                    <a:pt x="15818" y="10800"/>
                  </a:lnTo>
                  <a:lnTo>
                    <a:pt x="15818" y="18900"/>
                  </a:lnTo>
                  <a:lnTo>
                    <a:pt x="5782" y="18900"/>
                  </a:lnTo>
                  <a:lnTo>
                    <a:pt x="5782" y="10800"/>
                  </a:lnTo>
                  <a:lnTo>
                    <a:pt x="4109" y="10800"/>
                  </a:lnTo>
                  <a:close/>
                  <a:moveTo>
                    <a:pt x="13309" y="5737"/>
                  </a:moveTo>
                  <a:lnTo>
                    <a:pt x="14982" y="7763"/>
                  </a:lnTo>
                  <a:moveTo>
                    <a:pt x="15818" y="10800"/>
                  </a:moveTo>
                  <a:lnTo>
                    <a:pt x="5782" y="10800"/>
                  </a:lnTo>
                  <a:moveTo>
                    <a:pt x="9964" y="18900"/>
                  </a:moveTo>
                  <a:lnTo>
                    <a:pt x="9964" y="14850"/>
                  </a:lnTo>
                  <a:lnTo>
                    <a:pt x="11636" y="14850"/>
                  </a:lnTo>
                  <a:lnTo>
                    <a:pt x="11636" y="18900"/>
                  </a:lnTo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CustomShape 1"/>
          <p:cNvGrpSpPr/>
          <p:nvPr/>
        </p:nvGrpSpPr>
        <p:grpSpPr>
          <a:xfrm>
            <a:off x="457200" y="188639"/>
            <a:ext cx="8228880" cy="1367282"/>
            <a:chOff x="0" y="0"/>
            <a:chExt cx="8228879" cy="1367280"/>
          </a:xfrm>
        </p:grpSpPr>
        <p:sp>
          <p:nvSpPr>
            <p:cNvPr id="602" name="Прямоугольник"/>
            <p:cNvSpPr/>
            <p:nvPr/>
          </p:nvSpPr>
          <p:spPr>
            <a:xfrm>
              <a:off x="0" y="-1"/>
              <a:ext cx="8228880" cy="1367282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4400"/>
              </a:pPr>
            </a:p>
          </p:txBody>
        </p:sp>
        <p:sp>
          <p:nvSpPr>
            <p:cNvPr id="603" name="«Инсерт»"/>
            <p:cNvSpPr txBox="1"/>
            <p:nvPr/>
          </p:nvSpPr>
          <p:spPr>
            <a:xfrm>
              <a:off x="45000" y="-1"/>
              <a:ext cx="8138880" cy="13672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normAutofit fontScale="100000" lnSpcReduction="0"/>
            </a:bodyPr>
            <a:lstStyle>
              <a:lvl1pPr algn="ctr">
                <a:defRPr b="1" spc="-100" sz="4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«Инсерт»</a:t>
              </a:r>
            </a:p>
          </p:txBody>
        </p:sp>
      </p:grpSp>
      <p:sp>
        <p:nvSpPr>
          <p:cNvPr id="605" name="CustomShape 2"/>
          <p:cNvSpPr txBox="1"/>
          <p:nvPr/>
        </p:nvSpPr>
        <p:spPr>
          <a:xfrm>
            <a:off x="502200" y="1600200"/>
            <a:ext cx="8138880" cy="499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normAutofit fontScale="100000" lnSpcReduction="0"/>
          </a:bodyPr>
          <a:lstStyle/>
          <a:p>
            <a:pPr algn="just">
              <a:defRPr sz="2800">
                <a:solidFill>
                  <a:srgbClr val="1F497D"/>
                </a:solidFill>
              </a:defRPr>
            </a:pPr>
            <a:r>
              <a:t>		</a:t>
            </a:r>
            <a:r>
              <a:rPr sz="2000"/>
              <a:t>Учащихся надо познакомить с рядом маркировочных знаков и предложить им по мере чтения ставить их карандашом на полях специально подобранного и распечатанного текста. Помечать следует отдельные абзацы или предложения в тексте. </a:t>
            </a:r>
            <a:endParaRPr sz="2000"/>
          </a:p>
          <a:p>
            <a:pPr algn="just">
              <a:defRPr sz="2000">
                <a:solidFill>
                  <a:srgbClr val="1F497D"/>
                </a:solidFill>
              </a:defRPr>
            </a:pPr>
          </a:p>
          <a:p>
            <a:pPr algn="just">
              <a:defRPr sz="2000">
                <a:solidFill>
                  <a:srgbClr val="1F497D"/>
                </a:solidFill>
              </a:defRPr>
            </a:pPr>
            <a:r>
              <a:t>v	Знакомая информация</a:t>
            </a:r>
          </a:p>
          <a:p>
            <a:pPr algn="just">
              <a:defRPr sz="2000">
                <a:solidFill>
                  <a:srgbClr val="1F497D"/>
                </a:solidFill>
              </a:defRPr>
            </a:pPr>
            <a:r>
              <a:t>+	Новая информация</a:t>
            </a:r>
          </a:p>
          <a:p>
            <a:pPr algn="just">
              <a:defRPr sz="2000">
                <a:solidFill>
                  <a:srgbClr val="1F497D"/>
                </a:solidFill>
              </a:defRPr>
            </a:pPr>
            <a:r>
              <a:t>--	Я думал (думала) иначе</a:t>
            </a:r>
          </a:p>
          <a:p>
            <a:pPr algn="just">
              <a:defRPr sz="2000">
                <a:solidFill>
                  <a:srgbClr val="1F497D"/>
                </a:solidFill>
              </a:defRPr>
            </a:pPr>
            <a:r>
              <a:t>?	Это меня заинтересовало (удивило), хочу узнать больше</a:t>
            </a:r>
          </a:p>
        </p:txBody>
      </p:sp>
      <p:grpSp>
        <p:nvGrpSpPr>
          <p:cNvPr id="610" name="Управляющая кнопка: домой 3">
            <a:hlinkClick r:id="rId2" invalidUrl="" action="ppaction://hlinksldjump" tgtFrame="" tooltip="" history="1" highlightClick="0" endSnd="0"/>
          </p:cNvPr>
          <p:cNvGrpSpPr/>
          <p:nvPr/>
        </p:nvGrpSpPr>
        <p:grpSpPr>
          <a:xfrm>
            <a:off x="7347856" y="6425293"/>
            <a:ext cx="375558" cy="310244"/>
            <a:chOff x="0" y="0"/>
            <a:chExt cx="375556" cy="310243"/>
          </a:xfrm>
        </p:grpSpPr>
        <p:sp>
          <p:nvSpPr>
            <p:cNvPr id="606" name="Прямоугольник"/>
            <p:cNvSpPr/>
            <p:nvPr/>
          </p:nvSpPr>
          <p:spPr>
            <a:xfrm>
              <a:off x="0" y="-1"/>
              <a:ext cx="375557" cy="3102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07" name="Фигура"/>
            <p:cNvSpPr/>
            <p:nvPr/>
          </p:nvSpPr>
          <p:spPr>
            <a:xfrm>
              <a:off x="100522" y="53322"/>
              <a:ext cx="174513" cy="218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800" y="5760"/>
                  </a:moveTo>
                  <a:lnTo>
                    <a:pt x="19800" y="0"/>
                  </a:lnTo>
                  <a:lnTo>
                    <a:pt x="16200" y="0"/>
                  </a:lnTo>
                  <a:lnTo>
                    <a:pt x="16200" y="2880"/>
                  </a:lnTo>
                  <a:close/>
                  <a:moveTo>
                    <a:pt x="0" y="10080"/>
                  </a:moveTo>
                  <a:lnTo>
                    <a:pt x="0" y="21600"/>
                  </a:lnTo>
                  <a:lnTo>
                    <a:pt x="9000" y="21600"/>
                  </a:lnTo>
                  <a:lnTo>
                    <a:pt x="9000" y="15840"/>
                  </a:lnTo>
                  <a:lnTo>
                    <a:pt x="12600" y="15840"/>
                  </a:lnTo>
                  <a:lnTo>
                    <a:pt x="12600" y="21600"/>
                  </a:lnTo>
                  <a:lnTo>
                    <a:pt x="21600" y="21600"/>
                  </a:lnTo>
                  <a:lnTo>
                    <a:pt x="21600" y="1008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08" name="Фигура"/>
            <p:cNvSpPr/>
            <p:nvPr/>
          </p:nvSpPr>
          <p:spPr>
            <a:xfrm>
              <a:off x="71436" y="38779"/>
              <a:ext cx="232684" cy="2326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0" y="10800"/>
                  </a:lnTo>
                  <a:lnTo>
                    <a:pt x="21600" y="10800"/>
                  </a:lnTo>
                  <a:close/>
                  <a:moveTo>
                    <a:pt x="9450" y="16200"/>
                  </a:moveTo>
                  <a:lnTo>
                    <a:pt x="12150" y="16200"/>
                  </a:lnTo>
                  <a:lnTo>
                    <a:pt x="12150" y="21600"/>
                  </a:lnTo>
                  <a:lnTo>
                    <a:pt x="9450" y="216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09" name="Фигура"/>
            <p:cNvSpPr/>
            <p:nvPr/>
          </p:nvSpPr>
          <p:spPr>
            <a:xfrm>
              <a:off x="0" y="-1"/>
              <a:ext cx="375558" cy="310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700"/>
                  </a:moveTo>
                  <a:lnTo>
                    <a:pt x="13309" y="5737"/>
                  </a:lnTo>
                  <a:lnTo>
                    <a:pt x="13309" y="3712"/>
                  </a:lnTo>
                  <a:lnTo>
                    <a:pt x="14982" y="3712"/>
                  </a:lnTo>
                  <a:lnTo>
                    <a:pt x="14982" y="7763"/>
                  </a:lnTo>
                  <a:lnTo>
                    <a:pt x="17491" y="10800"/>
                  </a:lnTo>
                  <a:lnTo>
                    <a:pt x="15818" y="10800"/>
                  </a:lnTo>
                  <a:lnTo>
                    <a:pt x="15818" y="18900"/>
                  </a:lnTo>
                  <a:lnTo>
                    <a:pt x="5782" y="18900"/>
                  </a:lnTo>
                  <a:lnTo>
                    <a:pt x="5782" y="10800"/>
                  </a:lnTo>
                  <a:lnTo>
                    <a:pt x="4109" y="10800"/>
                  </a:lnTo>
                  <a:close/>
                  <a:moveTo>
                    <a:pt x="13309" y="5737"/>
                  </a:moveTo>
                  <a:lnTo>
                    <a:pt x="14982" y="7763"/>
                  </a:lnTo>
                  <a:moveTo>
                    <a:pt x="15818" y="10800"/>
                  </a:moveTo>
                  <a:lnTo>
                    <a:pt x="5782" y="10800"/>
                  </a:lnTo>
                  <a:moveTo>
                    <a:pt x="9964" y="18900"/>
                  </a:moveTo>
                  <a:lnTo>
                    <a:pt x="9964" y="14850"/>
                  </a:lnTo>
                  <a:lnTo>
                    <a:pt x="11636" y="14850"/>
                  </a:lnTo>
                  <a:lnTo>
                    <a:pt x="11636" y="18900"/>
                  </a:lnTo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CustomShape 1"/>
          <p:cNvGrpSpPr/>
          <p:nvPr/>
        </p:nvGrpSpPr>
        <p:grpSpPr>
          <a:xfrm>
            <a:off x="457200" y="188639"/>
            <a:ext cx="8228880" cy="1367282"/>
            <a:chOff x="0" y="0"/>
            <a:chExt cx="8228879" cy="1367280"/>
          </a:xfrm>
        </p:grpSpPr>
        <p:sp>
          <p:nvSpPr>
            <p:cNvPr id="612" name="Прямоугольник"/>
            <p:cNvSpPr/>
            <p:nvPr/>
          </p:nvSpPr>
          <p:spPr>
            <a:xfrm>
              <a:off x="0" y="-1"/>
              <a:ext cx="8228880" cy="1367282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4400"/>
              </a:pPr>
            </a:p>
          </p:txBody>
        </p:sp>
        <p:sp>
          <p:nvSpPr>
            <p:cNvPr id="613" name="«План»"/>
            <p:cNvSpPr txBox="1"/>
            <p:nvPr/>
          </p:nvSpPr>
          <p:spPr>
            <a:xfrm>
              <a:off x="45000" y="-1"/>
              <a:ext cx="8138880" cy="13672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normAutofit fontScale="100000" lnSpcReduction="0"/>
            </a:bodyPr>
            <a:lstStyle>
              <a:lvl1pPr algn="ctr">
                <a:defRPr b="1" spc="-100" sz="4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«План»</a:t>
              </a:r>
            </a:p>
          </p:txBody>
        </p:sp>
      </p:grpSp>
      <p:sp>
        <p:nvSpPr>
          <p:cNvPr id="615" name="CustomShape 2"/>
          <p:cNvSpPr txBox="1"/>
          <p:nvPr/>
        </p:nvSpPr>
        <p:spPr>
          <a:xfrm>
            <a:off x="502200" y="1600200"/>
            <a:ext cx="8138880" cy="499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normAutofit fontScale="100000" lnSpcReduction="0"/>
          </a:bodyPr>
          <a:lstStyle/>
          <a:p>
            <a:pPr algn="just">
              <a:defRPr sz="2800">
                <a:solidFill>
                  <a:srgbClr val="1F497D"/>
                </a:solidFill>
              </a:defRPr>
            </a:pPr>
            <a:r>
              <a:t>		</a:t>
            </a:r>
          </a:p>
          <a:p>
            <a:pPr>
              <a:defRPr sz="2800">
                <a:solidFill>
                  <a:srgbClr val="1F497D"/>
                </a:solidFill>
              </a:defRPr>
            </a:pPr>
            <a:r>
              <a:t>	</a:t>
            </a:r>
            <a:r>
              <a:rPr sz="2400"/>
              <a:t>Еще одним не простым, но в то же время необходимым способом обработки информации из книги является составление </a:t>
            </a:r>
            <a:r>
              <a:rPr b="1" i="1" sz="2400"/>
              <a:t>плана</a:t>
            </a:r>
            <a:r>
              <a:rPr b="1" sz="2400"/>
              <a:t> </a:t>
            </a:r>
            <a:r>
              <a:rPr sz="2400"/>
              <a:t>прочитанного. Удачно составленный план говорит о конечном итоге, об умении анализировать текст, о степени усвоения содержания. </a:t>
            </a:r>
            <a:endParaRPr sz="2400"/>
          </a:p>
          <a:p>
            <a:pPr>
              <a:defRPr sz="2400">
                <a:solidFill>
                  <a:srgbClr val="1F497D"/>
                </a:solidFill>
              </a:defRPr>
            </a:pPr>
            <a:r>
              <a:t>По плану ученикам будет легко восстановить в памяти содержание прочитанного.</a:t>
            </a:r>
          </a:p>
        </p:txBody>
      </p:sp>
      <p:grpSp>
        <p:nvGrpSpPr>
          <p:cNvPr id="620" name="Управляющая кнопка: домой 4">
            <a:hlinkClick r:id="rId2" invalidUrl="" action="ppaction://hlinksldjump" tgtFrame="" tooltip="" history="1" highlightClick="0" endSnd="0"/>
          </p:cNvPr>
          <p:cNvGrpSpPr/>
          <p:nvPr/>
        </p:nvGrpSpPr>
        <p:grpSpPr>
          <a:xfrm>
            <a:off x="7347856" y="6425293"/>
            <a:ext cx="375558" cy="310244"/>
            <a:chOff x="0" y="0"/>
            <a:chExt cx="375556" cy="310243"/>
          </a:xfrm>
        </p:grpSpPr>
        <p:sp>
          <p:nvSpPr>
            <p:cNvPr id="616" name="Прямоугольник"/>
            <p:cNvSpPr/>
            <p:nvPr/>
          </p:nvSpPr>
          <p:spPr>
            <a:xfrm>
              <a:off x="0" y="-1"/>
              <a:ext cx="375557" cy="3102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17" name="Фигура"/>
            <p:cNvSpPr/>
            <p:nvPr/>
          </p:nvSpPr>
          <p:spPr>
            <a:xfrm>
              <a:off x="100522" y="53322"/>
              <a:ext cx="174513" cy="218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800" y="5760"/>
                  </a:moveTo>
                  <a:lnTo>
                    <a:pt x="19800" y="0"/>
                  </a:lnTo>
                  <a:lnTo>
                    <a:pt x="16200" y="0"/>
                  </a:lnTo>
                  <a:lnTo>
                    <a:pt x="16200" y="2880"/>
                  </a:lnTo>
                  <a:close/>
                  <a:moveTo>
                    <a:pt x="0" y="10080"/>
                  </a:moveTo>
                  <a:lnTo>
                    <a:pt x="0" y="21600"/>
                  </a:lnTo>
                  <a:lnTo>
                    <a:pt x="9000" y="21600"/>
                  </a:lnTo>
                  <a:lnTo>
                    <a:pt x="9000" y="15840"/>
                  </a:lnTo>
                  <a:lnTo>
                    <a:pt x="12600" y="15840"/>
                  </a:lnTo>
                  <a:lnTo>
                    <a:pt x="12600" y="21600"/>
                  </a:lnTo>
                  <a:lnTo>
                    <a:pt x="21600" y="21600"/>
                  </a:lnTo>
                  <a:lnTo>
                    <a:pt x="21600" y="1008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18" name="Фигура"/>
            <p:cNvSpPr/>
            <p:nvPr/>
          </p:nvSpPr>
          <p:spPr>
            <a:xfrm>
              <a:off x="71436" y="38779"/>
              <a:ext cx="232684" cy="2326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0" y="10800"/>
                  </a:lnTo>
                  <a:lnTo>
                    <a:pt x="21600" y="10800"/>
                  </a:lnTo>
                  <a:close/>
                  <a:moveTo>
                    <a:pt x="9450" y="16200"/>
                  </a:moveTo>
                  <a:lnTo>
                    <a:pt x="12150" y="16200"/>
                  </a:lnTo>
                  <a:lnTo>
                    <a:pt x="12150" y="21600"/>
                  </a:lnTo>
                  <a:lnTo>
                    <a:pt x="9450" y="216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19" name="Фигура"/>
            <p:cNvSpPr/>
            <p:nvPr/>
          </p:nvSpPr>
          <p:spPr>
            <a:xfrm>
              <a:off x="0" y="-1"/>
              <a:ext cx="375558" cy="310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700"/>
                  </a:moveTo>
                  <a:lnTo>
                    <a:pt x="13309" y="5737"/>
                  </a:lnTo>
                  <a:lnTo>
                    <a:pt x="13309" y="3712"/>
                  </a:lnTo>
                  <a:lnTo>
                    <a:pt x="14982" y="3712"/>
                  </a:lnTo>
                  <a:lnTo>
                    <a:pt x="14982" y="7763"/>
                  </a:lnTo>
                  <a:lnTo>
                    <a:pt x="17491" y="10800"/>
                  </a:lnTo>
                  <a:lnTo>
                    <a:pt x="15818" y="10800"/>
                  </a:lnTo>
                  <a:lnTo>
                    <a:pt x="15818" y="18900"/>
                  </a:lnTo>
                  <a:lnTo>
                    <a:pt x="5782" y="18900"/>
                  </a:lnTo>
                  <a:lnTo>
                    <a:pt x="5782" y="10800"/>
                  </a:lnTo>
                  <a:lnTo>
                    <a:pt x="4109" y="10800"/>
                  </a:lnTo>
                  <a:close/>
                  <a:moveTo>
                    <a:pt x="13309" y="5737"/>
                  </a:moveTo>
                  <a:lnTo>
                    <a:pt x="14982" y="7763"/>
                  </a:lnTo>
                  <a:moveTo>
                    <a:pt x="15818" y="10800"/>
                  </a:moveTo>
                  <a:lnTo>
                    <a:pt x="5782" y="10800"/>
                  </a:lnTo>
                  <a:moveTo>
                    <a:pt x="9964" y="18900"/>
                  </a:moveTo>
                  <a:lnTo>
                    <a:pt x="9964" y="14850"/>
                  </a:lnTo>
                  <a:lnTo>
                    <a:pt x="11636" y="14850"/>
                  </a:lnTo>
                  <a:lnTo>
                    <a:pt x="11636" y="18900"/>
                  </a:lnTo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CustomShape 1"/>
          <p:cNvGrpSpPr/>
          <p:nvPr/>
        </p:nvGrpSpPr>
        <p:grpSpPr>
          <a:xfrm>
            <a:off x="457200" y="188639"/>
            <a:ext cx="8228880" cy="1367282"/>
            <a:chOff x="0" y="0"/>
            <a:chExt cx="8228879" cy="1367280"/>
          </a:xfrm>
        </p:grpSpPr>
        <p:sp>
          <p:nvSpPr>
            <p:cNvPr id="622" name="Прямоугольник"/>
            <p:cNvSpPr/>
            <p:nvPr/>
          </p:nvSpPr>
          <p:spPr>
            <a:xfrm>
              <a:off x="0" y="-1"/>
              <a:ext cx="8228880" cy="1367282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4400"/>
              </a:pPr>
            </a:p>
          </p:txBody>
        </p:sp>
        <p:sp>
          <p:nvSpPr>
            <p:cNvPr id="623" name="«Тезисы»"/>
            <p:cNvSpPr txBox="1"/>
            <p:nvPr/>
          </p:nvSpPr>
          <p:spPr>
            <a:xfrm>
              <a:off x="45000" y="-1"/>
              <a:ext cx="8138880" cy="13672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normAutofit fontScale="100000" lnSpcReduction="0"/>
            </a:bodyPr>
            <a:lstStyle>
              <a:lvl1pPr algn="ctr">
                <a:defRPr b="1" spc="-100" sz="4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«Тезисы»</a:t>
              </a:r>
            </a:p>
          </p:txBody>
        </p:sp>
      </p:grpSp>
      <p:sp>
        <p:nvSpPr>
          <p:cNvPr id="625" name="CustomShape 2"/>
          <p:cNvSpPr txBox="1"/>
          <p:nvPr/>
        </p:nvSpPr>
        <p:spPr>
          <a:xfrm>
            <a:off x="502200" y="1600200"/>
            <a:ext cx="8138880" cy="499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normAutofit fontScale="100000" lnSpcReduction="0"/>
          </a:bodyPr>
          <a:lstStyle>
            <a:lvl1pPr algn="just">
              <a:defRPr sz="2800">
                <a:solidFill>
                  <a:srgbClr val="1F497D"/>
                </a:solidFill>
              </a:defRPr>
            </a:lvl1pPr>
          </a:lstStyle>
          <a:p>
            <a:pPr/>
            <a:r>
              <a:t>			Тезисы – это основные положения текста, которые доказывают, объясняют, поясняют материал в тексте. Если в плане в определенной последовательности даются только названия основных объектов в виде заголовков, то при составлении тезисов в той же самой последовательности даётся само содержание этих объектов.</a:t>
            </a:r>
          </a:p>
        </p:txBody>
      </p:sp>
      <p:grpSp>
        <p:nvGrpSpPr>
          <p:cNvPr id="630" name="Управляющая кнопка: домой 4">
            <a:hlinkClick r:id="rId2" invalidUrl="" action="ppaction://hlinksldjump" tgtFrame="" tooltip="" history="1" highlightClick="0" endSnd="0"/>
          </p:cNvPr>
          <p:cNvGrpSpPr/>
          <p:nvPr/>
        </p:nvGrpSpPr>
        <p:grpSpPr>
          <a:xfrm>
            <a:off x="7347856" y="6425293"/>
            <a:ext cx="375558" cy="310244"/>
            <a:chOff x="0" y="0"/>
            <a:chExt cx="375556" cy="310243"/>
          </a:xfrm>
        </p:grpSpPr>
        <p:sp>
          <p:nvSpPr>
            <p:cNvPr id="626" name="Прямоугольник"/>
            <p:cNvSpPr/>
            <p:nvPr/>
          </p:nvSpPr>
          <p:spPr>
            <a:xfrm>
              <a:off x="0" y="-1"/>
              <a:ext cx="375557" cy="3102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27" name="Фигура"/>
            <p:cNvSpPr/>
            <p:nvPr/>
          </p:nvSpPr>
          <p:spPr>
            <a:xfrm>
              <a:off x="100522" y="53322"/>
              <a:ext cx="174513" cy="218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800" y="5760"/>
                  </a:moveTo>
                  <a:lnTo>
                    <a:pt x="19800" y="0"/>
                  </a:lnTo>
                  <a:lnTo>
                    <a:pt x="16200" y="0"/>
                  </a:lnTo>
                  <a:lnTo>
                    <a:pt x="16200" y="2880"/>
                  </a:lnTo>
                  <a:close/>
                  <a:moveTo>
                    <a:pt x="0" y="10080"/>
                  </a:moveTo>
                  <a:lnTo>
                    <a:pt x="0" y="21600"/>
                  </a:lnTo>
                  <a:lnTo>
                    <a:pt x="9000" y="21600"/>
                  </a:lnTo>
                  <a:lnTo>
                    <a:pt x="9000" y="15840"/>
                  </a:lnTo>
                  <a:lnTo>
                    <a:pt x="12600" y="15840"/>
                  </a:lnTo>
                  <a:lnTo>
                    <a:pt x="12600" y="21600"/>
                  </a:lnTo>
                  <a:lnTo>
                    <a:pt x="21600" y="21600"/>
                  </a:lnTo>
                  <a:lnTo>
                    <a:pt x="21600" y="1008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28" name="Фигура"/>
            <p:cNvSpPr/>
            <p:nvPr/>
          </p:nvSpPr>
          <p:spPr>
            <a:xfrm>
              <a:off x="71436" y="38779"/>
              <a:ext cx="232684" cy="2326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0" y="10800"/>
                  </a:lnTo>
                  <a:lnTo>
                    <a:pt x="21600" y="10800"/>
                  </a:lnTo>
                  <a:close/>
                  <a:moveTo>
                    <a:pt x="9450" y="16200"/>
                  </a:moveTo>
                  <a:lnTo>
                    <a:pt x="12150" y="16200"/>
                  </a:lnTo>
                  <a:lnTo>
                    <a:pt x="12150" y="21600"/>
                  </a:lnTo>
                  <a:lnTo>
                    <a:pt x="9450" y="216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29" name="Фигура"/>
            <p:cNvSpPr/>
            <p:nvPr/>
          </p:nvSpPr>
          <p:spPr>
            <a:xfrm>
              <a:off x="0" y="-1"/>
              <a:ext cx="375558" cy="310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700"/>
                  </a:moveTo>
                  <a:lnTo>
                    <a:pt x="13309" y="5737"/>
                  </a:lnTo>
                  <a:lnTo>
                    <a:pt x="13309" y="3712"/>
                  </a:lnTo>
                  <a:lnTo>
                    <a:pt x="14982" y="3712"/>
                  </a:lnTo>
                  <a:lnTo>
                    <a:pt x="14982" y="7763"/>
                  </a:lnTo>
                  <a:lnTo>
                    <a:pt x="17491" y="10800"/>
                  </a:lnTo>
                  <a:lnTo>
                    <a:pt x="15818" y="10800"/>
                  </a:lnTo>
                  <a:lnTo>
                    <a:pt x="15818" y="18900"/>
                  </a:lnTo>
                  <a:lnTo>
                    <a:pt x="5782" y="18900"/>
                  </a:lnTo>
                  <a:lnTo>
                    <a:pt x="5782" y="10800"/>
                  </a:lnTo>
                  <a:lnTo>
                    <a:pt x="4109" y="10800"/>
                  </a:lnTo>
                  <a:close/>
                  <a:moveTo>
                    <a:pt x="13309" y="5737"/>
                  </a:moveTo>
                  <a:lnTo>
                    <a:pt x="14982" y="7763"/>
                  </a:lnTo>
                  <a:moveTo>
                    <a:pt x="15818" y="10800"/>
                  </a:moveTo>
                  <a:lnTo>
                    <a:pt x="5782" y="10800"/>
                  </a:lnTo>
                  <a:moveTo>
                    <a:pt x="9964" y="18900"/>
                  </a:moveTo>
                  <a:lnTo>
                    <a:pt x="9964" y="14850"/>
                  </a:lnTo>
                  <a:lnTo>
                    <a:pt x="11636" y="14850"/>
                  </a:lnTo>
                  <a:lnTo>
                    <a:pt x="11636" y="18900"/>
                  </a:lnTo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CustomShape 1"/>
          <p:cNvGrpSpPr/>
          <p:nvPr/>
        </p:nvGrpSpPr>
        <p:grpSpPr>
          <a:xfrm>
            <a:off x="457200" y="188639"/>
            <a:ext cx="8228880" cy="1367282"/>
            <a:chOff x="0" y="0"/>
            <a:chExt cx="8228879" cy="1367280"/>
          </a:xfrm>
        </p:grpSpPr>
        <p:sp>
          <p:nvSpPr>
            <p:cNvPr id="632" name="Прямоугольник"/>
            <p:cNvSpPr/>
            <p:nvPr/>
          </p:nvSpPr>
          <p:spPr>
            <a:xfrm>
              <a:off x="0" y="-1"/>
              <a:ext cx="8228880" cy="1367282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4400"/>
              </a:pPr>
            </a:p>
          </p:txBody>
        </p:sp>
        <p:sp>
          <p:nvSpPr>
            <p:cNvPr id="633" name="«Дерево знаний»"/>
            <p:cNvSpPr txBox="1"/>
            <p:nvPr/>
          </p:nvSpPr>
          <p:spPr>
            <a:xfrm>
              <a:off x="45000" y="-1"/>
              <a:ext cx="8138880" cy="13672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normAutofit fontScale="100000" lnSpcReduction="0"/>
            </a:bodyPr>
            <a:lstStyle>
              <a:lvl1pPr algn="ctr">
                <a:defRPr b="1" spc="-100" sz="4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«Дерево знаний»</a:t>
              </a:r>
            </a:p>
          </p:txBody>
        </p:sp>
      </p:grpSp>
      <p:sp>
        <p:nvSpPr>
          <p:cNvPr id="635" name="CustomShape 2"/>
          <p:cNvSpPr txBox="1"/>
          <p:nvPr/>
        </p:nvSpPr>
        <p:spPr>
          <a:xfrm>
            <a:off x="502200" y="1600200"/>
            <a:ext cx="8138880" cy="499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normAutofit fontScale="100000" lnSpcReduction="0"/>
          </a:bodyPr>
          <a:lstStyle/>
          <a:p>
            <a:pPr algn="just">
              <a:defRPr sz="2800">
                <a:solidFill>
                  <a:srgbClr val="1F497D"/>
                </a:solidFill>
              </a:defRPr>
            </a:pPr>
            <a:r>
              <a:t>		</a:t>
            </a:r>
          </a:p>
          <a:p>
            <a:pPr algn="just">
              <a:defRPr sz="2800">
                <a:solidFill>
                  <a:srgbClr val="1F497D"/>
                </a:solidFill>
              </a:defRPr>
            </a:pPr>
          </a:p>
          <a:p>
            <a:pPr algn="just">
              <a:defRPr sz="2800">
                <a:solidFill>
                  <a:srgbClr val="1F497D"/>
                </a:solidFill>
              </a:defRPr>
            </a:pPr>
            <a:r>
              <a:t>	</a:t>
            </a:r>
            <a:r>
              <a:rPr sz="3200"/>
              <a:t>Каждый пишет свои вопросы на листочках, которые прикрепляются на «дерево знаний» (изображение на листе ватмана или на школьной доске). </a:t>
            </a:r>
          </a:p>
        </p:txBody>
      </p:sp>
      <p:grpSp>
        <p:nvGrpSpPr>
          <p:cNvPr id="640" name="Управляющая кнопка: домой 4">
            <a:hlinkClick r:id="rId2" invalidUrl="" action="ppaction://hlinksldjump" tgtFrame="" tooltip="" history="1" highlightClick="0" endSnd="0"/>
          </p:cNvPr>
          <p:cNvGrpSpPr/>
          <p:nvPr/>
        </p:nvGrpSpPr>
        <p:grpSpPr>
          <a:xfrm>
            <a:off x="7364186" y="6425293"/>
            <a:ext cx="359229" cy="310244"/>
            <a:chOff x="0" y="0"/>
            <a:chExt cx="359228" cy="310243"/>
          </a:xfrm>
        </p:grpSpPr>
        <p:sp>
          <p:nvSpPr>
            <p:cNvPr id="636" name="Прямоугольник"/>
            <p:cNvSpPr/>
            <p:nvPr/>
          </p:nvSpPr>
          <p:spPr>
            <a:xfrm>
              <a:off x="-1" y="-1"/>
              <a:ext cx="359230" cy="3102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37" name="Фигура"/>
            <p:cNvSpPr/>
            <p:nvPr/>
          </p:nvSpPr>
          <p:spPr>
            <a:xfrm>
              <a:off x="92358" y="53322"/>
              <a:ext cx="174513" cy="218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800" y="5760"/>
                  </a:moveTo>
                  <a:lnTo>
                    <a:pt x="19800" y="0"/>
                  </a:lnTo>
                  <a:lnTo>
                    <a:pt x="16200" y="0"/>
                  </a:lnTo>
                  <a:lnTo>
                    <a:pt x="16200" y="2880"/>
                  </a:lnTo>
                  <a:close/>
                  <a:moveTo>
                    <a:pt x="0" y="10080"/>
                  </a:moveTo>
                  <a:lnTo>
                    <a:pt x="0" y="21600"/>
                  </a:lnTo>
                  <a:lnTo>
                    <a:pt x="9000" y="21600"/>
                  </a:lnTo>
                  <a:lnTo>
                    <a:pt x="9000" y="15840"/>
                  </a:lnTo>
                  <a:lnTo>
                    <a:pt x="12600" y="15840"/>
                  </a:lnTo>
                  <a:lnTo>
                    <a:pt x="12600" y="21600"/>
                  </a:lnTo>
                  <a:lnTo>
                    <a:pt x="21600" y="21600"/>
                  </a:lnTo>
                  <a:lnTo>
                    <a:pt x="21600" y="1008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38" name="Фигура"/>
            <p:cNvSpPr/>
            <p:nvPr/>
          </p:nvSpPr>
          <p:spPr>
            <a:xfrm>
              <a:off x="63273" y="38779"/>
              <a:ext cx="232683" cy="2326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0" y="10800"/>
                  </a:lnTo>
                  <a:lnTo>
                    <a:pt x="21600" y="10800"/>
                  </a:lnTo>
                  <a:close/>
                  <a:moveTo>
                    <a:pt x="9450" y="16200"/>
                  </a:moveTo>
                  <a:lnTo>
                    <a:pt x="12150" y="16200"/>
                  </a:lnTo>
                  <a:lnTo>
                    <a:pt x="12150" y="21600"/>
                  </a:lnTo>
                  <a:lnTo>
                    <a:pt x="9450" y="216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39" name="Фигура"/>
            <p:cNvSpPr/>
            <p:nvPr/>
          </p:nvSpPr>
          <p:spPr>
            <a:xfrm>
              <a:off x="-1" y="-1"/>
              <a:ext cx="359230" cy="310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700"/>
                  </a:moveTo>
                  <a:lnTo>
                    <a:pt x="13423" y="5737"/>
                  </a:lnTo>
                  <a:lnTo>
                    <a:pt x="13423" y="3712"/>
                  </a:lnTo>
                  <a:lnTo>
                    <a:pt x="15172" y="3712"/>
                  </a:lnTo>
                  <a:lnTo>
                    <a:pt x="15172" y="7763"/>
                  </a:lnTo>
                  <a:lnTo>
                    <a:pt x="17795" y="10800"/>
                  </a:lnTo>
                  <a:lnTo>
                    <a:pt x="16047" y="10800"/>
                  </a:lnTo>
                  <a:lnTo>
                    <a:pt x="16047" y="18900"/>
                  </a:lnTo>
                  <a:lnTo>
                    <a:pt x="5553" y="18900"/>
                  </a:lnTo>
                  <a:lnTo>
                    <a:pt x="5553" y="10800"/>
                  </a:lnTo>
                  <a:lnTo>
                    <a:pt x="3805" y="10800"/>
                  </a:lnTo>
                  <a:close/>
                  <a:moveTo>
                    <a:pt x="13423" y="5737"/>
                  </a:moveTo>
                  <a:lnTo>
                    <a:pt x="15172" y="7763"/>
                  </a:lnTo>
                  <a:moveTo>
                    <a:pt x="16047" y="10800"/>
                  </a:moveTo>
                  <a:lnTo>
                    <a:pt x="5553" y="10800"/>
                  </a:lnTo>
                  <a:moveTo>
                    <a:pt x="9926" y="18900"/>
                  </a:moveTo>
                  <a:lnTo>
                    <a:pt x="9926" y="14850"/>
                  </a:lnTo>
                  <a:lnTo>
                    <a:pt x="11674" y="14850"/>
                  </a:lnTo>
                  <a:lnTo>
                    <a:pt x="11674" y="18900"/>
                  </a:lnTo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6" name="Управляющая кнопка: домой 4">
            <a:hlinkClick r:id="rId2" invalidUrl="" action="ppaction://hlinksldjump" tgtFrame="" tooltip="" history="1" highlightClick="0" endSnd="0"/>
          </p:cNvPr>
          <p:cNvGrpSpPr/>
          <p:nvPr/>
        </p:nvGrpSpPr>
        <p:grpSpPr>
          <a:xfrm>
            <a:off x="7364186" y="6425293"/>
            <a:ext cx="359229" cy="310244"/>
            <a:chOff x="0" y="0"/>
            <a:chExt cx="359228" cy="310243"/>
          </a:xfrm>
        </p:grpSpPr>
        <p:sp>
          <p:nvSpPr>
            <p:cNvPr id="642" name="Прямоугольник"/>
            <p:cNvSpPr/>
            <p:nvPr/>
          </p:nvSpPr>
          <p:spPr>
            <a:xfrm>
              <a:off x="-1" y="-1"/>
              <a:ext cx="359230" cy="3102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43" name="Фигура"/>
            <p:cNvSpPr/>
            <p:nvPr/>
          </p:nvSpPr>
          <p:spPr>
            <a:xfrm>
              <a:off x="92358" y="53322"/>
              <a:ext cx="174513" cy="218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800" y="5760"/>
                  </a:moveTo>
                  <a:lnTo>
                    <a:pt x="19800" y="0"/>
                  </a:lnTo>
                  <a:lnTo>
                    <a:pt x="16200" y="0"/>
                  </a:lnTo>
                  <a:lnTo>
                    <a:pt x="16200" y="2880"/>
                  </a:lnTo>
                  <a:close/>
                  <a:moveTo>
                    <a:pt x="0" y="10080"/>
                  </a:moveTo>
                  <a:lnTo>
                    <a:pt x="0" y="21600"/>
                  </a:lnTo>
                  <a:lnTo>
                    <a:pt x="9000" y="21600"/>
                  </a:lnTo>
                  <a:lnTo>
                    <a:pt x="9000" y="15840"/>
                  </a:lnTo>
                  <a:lnTo>
                    <a:pt x="12600" y="15840"/>
                  </a:lnTo>
                  <a:lnTo>
                    <a:pt x="12600" y="21600"/>
                  </a:lnTo>
                  <a:lnTo>
                    <a:pt x="21600" y="21600"/>
                  </a:lnTo>
                  <a:lnTo>
                    <a:pt x="21600" y="1008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44" name="Фигура"/>
            <p:cNvSpPr/>
            <p:nvPr/>
          </p:nvSpPr>
          <p:spPr>
            <a:xfrm>
              <a:off x="63273" y="38779"/>
              <a:ext cx="232683" cy="2326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0" y="10800"/>
                  </a:lnTo>
                  <a:lnTo>
                    <a:pt x="21600" y="10800"/>
                  </a:lnTo>
                  <a:close/>
                  <a:moveTo>
                    <a:pt x="9450" y="16200"/>
                  </a:moveTo>
                  <a:lnTo>
                    <a:pt x="12150" y="16200"/>
                  </a:lnTo>
                  <a:lnTo>
                    <a:pt x="12150" y="21600"/>
                  </a:lnTo>
                  <a:lnTo>
                    <a:pt x="9450" y="216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45" name="Фигура"/>
            <p:cNvSpPr/>
            <p:nvPr/>
          </p:nvSpPr>
          <p:spPr>
            <a:xfrm>
              <a:off x="-1" y="-1"/>
              <a:ext cx="359230" cy="310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700"/>
                  </a:moveTo>
                  <a:lnTo>
                    <a:pt x="13423" y="5737"/>
                  </a:lnTo>
                  <a:lnTo>
                    <a:pt x="13423" y="3712"/>
                  </a:lnTo>
                  <a:lnTo>
                    <a:pt x="15172" y="3712"/>
                  </a:lnTo>
                  <a:lnTo>
                    <a:pt x="15172" y="7763"/>
                  </a:lnTo>
                  <a:lnTo>
                    <a:pt x="17795" y="10800"/>
                  </a:lnTo>
                  <a:lnTo>
                    <a:pt x="16047" y="10800"/>
                  </a:lnTo>
                  <a:lnTo>
                    <a:pt x="16047" y="18900"/>
                  </a:lnTo>
                  <a:lnTo>
                    <a:pt x="5553" y="18900"/>
                  </a:lnTo>
                  <a:lnTo>
                    <a:pt x="5553" y="10800"/>
                  </a:lnTo>
                  <a:lnTo>
                    <a:pt x="3805" y="10800"/>
                  </a:lnTo>
                  <a:close/>
                  <a:moveTo>
                    <a:pt x="13423" y="5737"/>
                  </a:moveTo>
                  <a:lnTo>
                    <a:pt x="15172" y="7763"/>
                  </a:lnTo>
                  <a:moveTo>
                    <a:pt x="16047" y="10800"/>
                  </a:moveTo>
                  <a:lnTo>
                    <a:pt x="5553" y="10800"/>
                  </a:lnTo>
                  <a:moveTo>
                    <a:pt x="9926" y="18900"/>
                  </a:moveTo>
                  <a:lnTo>
                    <a:pt x="9926" y="14850"/>
                  </a:lnTo>
                  <a:lnTo>
                    <a:pt x="11674" y="14850"/>
                  </a:lnTo>
                  <a:lnTo>
                    <a:pt x="11674" y="18900"/>
                  </a:lnTo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pic>
        <p:nvPicPr>
          <p:cNvPr id="647" name="Рисунок 2" descr="Рисунок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23898" y="400050"/>
            <a:ext cx="7500258" cy="56251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Рисунок 5" descr="Рисунок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6547" y="232784"/>
            <a:ext cx="7850905" cy="639243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0" name="Рисунок 6" descr="Рисунок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86495" y="6396430"/>
            <a:ext cx="384082" cy="3353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4" name="CustomShape 1"/>
          <p:cNvGrpSpPr/>
          <p:nvPr/>
        </p:nvGrpSpPr>
        <p:grpSpPr>
          <a:xfrm>
            <a:off x="457200" y="188639"/>
            <a:ext cx="8228880" cy="1367282"/>
            <a:chOff x="0" y="0"/>
            <a:chExt cx="8228879" cy="1367280"/>
          </a:xfrm>
        </p:grpSpPr>
        <p:sp>
          <p:nvSpPr>
            <p:cNvPr id="652" name="Прямоугольник"/>
            <p:cNvSpPr/>
            <p:nvPr/>
          </p:nvSpPr>
          <p:spPr>
            <a:xfrm>
              <a:off x="0" y="-1"/>
              <a:ext cx="8228880" cy="1367282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4400"/>
              </a:pPr>
            </a:p>
          </p:txBody>
        </p:sp>
        <p:sp>
          <p:nvSpPr>
            <p:cNvPr id="653" name="«Кубик Блума»"/>
            <p:cNvSpPr txBox="1"/>
            <p:nvPr/>
          </p:nvSpPr>
          <p:spPr>
            <a:xfrm>
              <a:off x="45000" y="-1"/>
              <a:ext cx="8138880" cy="13672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normAutofit fontScale="100000" lnSpcReduction="0"/>
            </a:bodyPr>
            <a:lstStyle>
              <a:lvl1pPr algn="ctr">
                <a:defRPr b="1" spc="-100" sz="4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«Кубик Блума»</a:t>
              </a:r>
            </a:p>
          </p:txBody>
        </p:sp>
      </p:grpSp>
      <p:sp>
        <p:nvSpPr>
          <p:cNvPr id="655" name="CustomShape 2"/>
          <p:cNvSpPr txBox="1"/>
          <p:nvPr/>
        </p:nvSpPr>
        <p:spPr>
          <a:xfrm>
            <a:off x="502200" y="1600200"/>
            <a:ext cx="8138880" cy="499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normAutofit fontScale="100000" lnSpcReduction="0"/>
          </a:bodyPr>
          <a:lstStyle/>
          <a:p>
            <a:pPr algn="just">
              <a:defRPr sz="2800">
                <a:solidFill>
                  <a:srgbClr val="1F497D"/>
                </a:solidFill>
              </a:defRPr>
            </a:pPr>
            <a:r>
              <a:t>		</a:t>
            </a:r>
          </a:p>
          <a:p>
            <a:pPr algn="just">
              <a:defRPr sz="2800">
                <a:solidFill>
                  <a:srgbClr val="1F497D"/>
                </a:solidFill>
              </a:defRPr>
            </a:pPr>
          </a:p>
          <a:p>
            <a:pPr algn="just">
              <a:defRPr sz="2800">
                <a:solidFill>
                  <a:srgbClr val="1F497D"/>
                </a:solidFill>
              </a:defRPr>
            </a:pPr>
            <a:r>
              <a:t>	</a:t>
            </a:r>
            <a:r>
              <a:rPr sz="3200"/>
              <a:t>Учитель (или ученик) бросает кубик. Необходимо сформулировать вопрос к учебному материалу по той грани, на которую выпадет кубик.</a:t>
            </a:r>
          </a:p>
        </p:txBody>
      </p:sp>
      <p:grpSp>
        <p:nvGrpSpPr>
          <p:cNvPr id="660" name="Управляющая кнопка: домой 4">
            <a:hlinkClick r:id="rId2" invalidUrl="" action="ppaction://hlinksldjump" tgtFrame="" tooltip="" history="1" highlightClick="0" endSnd="0"/>
          </p:cNvPr>
          <p:cNvGrpSpPr/>
          <p:nvPr/>
        </p:nvGrpSpPr>
        <p:grpSpPr>
          <a:xfrm>
            <a:off x="7364186" y="6425293"/>
            <a:ext cx="359229" cy="310244"/>
            <a:chOff x="0" y="0"/>
            <a:chExt cx="359228" cy="310243"/>
          </a:xfrm>
        </p:grpSpPr>
        <p:sp>
          <p:nvSpPr>
            <p:cNvPr id="656" name="Прямоугольник"/>
            <p:cNvSpPr/>
            <p:nvPr/>
          </p:nvSpPr>
          <p:spPr>
            <a:xfrm>
              <a:off x="-1" y="-1"/>
              <a:ext cx="359230" cy="3102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57" name="Фигура"/>
            <p:cNvSpPr/>
            <p:nvPr/>
          </p:nvSpPr>
          <p:spPr>
            <a:xfrm>
              <a:off x="92358" y="53322"/>
              <a:ext cx="174513" cy="218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800" y="5760"/>
                  </a:moveTo>
                  <a:lnTo>
                    <a:pt x="19800" y="0"/>
                  </a:lnTo>
                  <a:lnTo>
                    <a:pt x="16200" y="0"/>
                  </a:lnTo>
                  <a:lnTo>
                    <a:pt x="16200" y="2880"/>
                  </a:lnTo>
                  <a:close/>
                  <a:moveTo>
                    <a:pt x="0" y="10080"/>
                  </a:moveTo>
                  <a:lnTo>
                    <a:pt x="0" y="21600"/>
                  </a:lnTo>
                  <a:lnTo>
                    <a:pt x="9000" y="21600"/>
                  </a:lnTo>
                  <a:lnTo>
                    <a:pt x="9000" y="15840"/>
                  </a:lnTo>
                  <a:lnTo>
                    <a:pt x="12600" y="15840"/>
                  </a:lnTo>
                  <a:lnTo>
                    <a:pt x="12600" y="21600"/>
                  </a:lnTo>
                  <a:lnTo>
                    <a:pt x="21600" y="21600"/>
                  </a:lnTo>
                  <a:lnTo>
                    <a:pt x="21600" y="1008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58" name="Фигура"/>
            <p:cNvSpPr/>
            <p:nvPr/>
          </p:nvSpPr>
          <p:spPr>
            <a:xfrm>
              <a:off x="63273" y="38779"/>
              <a:ext cx="232683" cy="2326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0" y="10800"/>
                  </a:lnTo>
                  <a:lnTo>
                    <a:pt x="21600" y="10800"/>
                  </a:lnTo>
                  <a:close/>
                  <a:moveTo>
                    <a:pt x="9450" y="16200"/>
                  </a:moveTo>
                  <a:lnTo>
                    <a:pt x="12150" y="16200"/>
                  </a:lnTo>
                  <a:lnTo>
                    <a:pt x="12150" y="21600"/>
                  </a:lnTo>
                  <a:lnTo>
                    <a:pt x="9450" y="216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59" name="Фигура"/>
            <p:cNvSpPr/>
            <p:nvPr/>
          </p:nvSpPr>
          <p:spPr>
            <a:xfrm>
              <a:off x="-1" y="-1"/>
              <a:ext cx="359230" cy="310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2700"/>
                  </a:moveTo>
                  <a:lnTo>
                    <a:pt x="13423" y="5737"/>
                  </a:lnTo>
                  <a:lnTo>
                    <a:pt x="13423" y="3712"/>
                  </a:lnTo>
                  <a:lnTo>
                    <a:pt x="15172" y="3712"/>
                  </a:lnTo>
                  <a:lnTo>
                    <a:pt x="15172" y="7763"/>
                  </a:lnTo>
                  <a:lnTo>
                    <a:pt x="17795" y="10800"/>
                  </a:lnTo>
                  <a:lnTo>
                    <a:pt x="16047" y="10800"/>
                  </a:lnTo>
                  <a:lnTo>
                    <a:pt x="16047" y="18900"/>
                  </a:lnTo>
                  <a:lnTo>
                    <a:pt x="5553" y="18900"/>
                  </a:lnTo>
                  <a:lnTo>
                    <a:pt x="5553" y="10800"/>
                  </a:lnTo>
                  <a:lnTo>
                    <a:pt x="3805" y="10800"/>
                  </a:lnTo>
                  <a:close/>
                  <a:moveTo>
                    <a:pt x="13423" y="5737"/>
                  </a:moveTo>
                  <a:lnTo>
                    <a:pt x="15172" y="7763"/>
                  </a:lnTo>
                  <a:moveTo>
                    <a:pt x="16047" y="10800"/>
                  </a:moveTo>
                  <a:lnTo>
                    <a:pt x="5553" y="10800"/>
                  </a:lnTo>
                  <a:moveTo>
                    <a:pt x="9926" y="18900"/>
                  </a:moveTo>
                  <a:lnTo>
                    <a:pt x="9926" y="14850"/>
                  </a:lnTo>
                  <a:lnTo>
                    <a:pt x="11674" y="14850"/>
                  </a:lnTo>
                  <a:lnTo>
                    <a:pt x="11674" y="18900"/>
                  </a:lnTo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4" name="CustomShape 1"/>
          <p:cNvGrpSpPr/>
          <p:nvPr/>
        </p:nvGrpSpPr>
        <p:grpSpPr>
          <a:xfrm>
            <a:off x="457200" y="188639"/>
            <a:ext cx="8228880" cy="1367282"/>
            <a:chOff x="0" y="0"/>
            <a:chExt cx="8228879" cy="1367280"/>
          </a:xfrm>
        </p:grpSpPr>
        <p:sp>
          <p:nvSpPr>
            <p:cNvPr id="662" name="Прямоугольник"/>
            <p:cNvSpPr/>
            <p:nvPr/>
          </p:nvSpPr>
          <p:spPr>
            <a:xfrm>
              <a:off x="0" y="-1"/>
              <a:ext cx="8228880" cy="1367282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3200"/>
              </a:pPr>
            </a:p>
          </p:txBody>
        </p:sp>
        <p:sp>
          <p:nvSpPr>
            <p:cNvPr id="663" name="Виды вопросов и заданий к текстам"/>
            <p:cNvSpPr txBox="1"/>
            <p:nvPr/>
          </p:nvSpPr>
          <p:spPr>
            <a:xfrm>
              <a:off x="45000" y="-1"/>
              <a:ext cx="8138880" cy="13672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normAutofit fontScale="100000" lnSpcReduction="0"/>
            </a:bodyPr>
            <a:lstStyle>
              <a:lvl1pPr algn="ctr">
                <a:defRPr b="1" spc="-100" sz="3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Виды вопросов и заданий к текстам</a:t>
              </a:r>
            </a:p>
          </p:txBody>
        </p:sp>
      </p:grpSp>
      <p:sp>
        <p:nvSpPr>
          <p:cNvPr id="665" name="Прямоугольник 2"/>
          <p:cNvSpPr txBox="1"/>
          <p:nvPr/>
        </p:nvSpPr>
        <p:spPr>
          <a:xfrm>
            <a:off x="617219" y="1817177"/>
            <a:ext cx="7501347" cy="287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15000"/>
              </a:lnSpc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 </a:t>
            </a:r>
          </a:p>
        </p:txBody>
      </p:sp>
      <p:sp>
        <p:nvSpPr>
          <p:cNvPr id="666" name="Прямоугольник 3"/>
          <p:cNvSpPr txBox="1"/>
          <p:nvPr/>
        </p:nvSpPr>
        <p:spPr>
          <a:xfrm>
            <a:off x="690698" y="2157269"/>
            <a:ext cx="7256417" cy="2808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lnSpc>
                <a:spcPct val="115000"/>
              </a:lnSpc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Задания «множественного выбора»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15000"/>
              </a:lnSpc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Задания «на соотнесение»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15000"/>
              </a:lnSpc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</a:t>
            </a:r>
            <a:r>
              <a:rPr b="1"/>
              <a:t>Задания «на дополнение информации»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15000"/>
              </a:lnSpc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  <a:r>
              <a:rPr b="1"/>
              <a:t>Задания «на перенос информации»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15000"/>
              </a:lnSpc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Задания «на восстановление деформированного текста»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Заголовок 1"/>
          <p:cNvSpPr txBox="1"/>
          <p:nvPr>
            <p:ph type="title"/>
          </p:nvPr>
        </p:nvSpPr>
        <p:spPr>
          <a:xfrm>
            <a:off x="457199" y="222840"/>
            <a:ext cx="8229242" cy="124668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69" name="Подзаголовок 2"/>
          <p:cNvSpPr txBox="1"/>
          <p:nvPr>
            <p:ph type="body" sz="quarter" idx="1"/>
          </p:nvPr>
        </p:nvSpPr>
        <p:spPr>
          <a:xfrm>
            <a:off x="457199" y="222839"/>
            <a:ext cx="8229242" cy="348662"/>
          </a:xfrm>
          <a:prstGeom prst="rect">
            <a:avLst/>
          </a:prstGeom>
        </p:spPr>
        <p:txBody>
          <a:bodyPr/>
          <a:lstStyle/>
          <a:p>
            <a:pPr marL="192023" indent="-192023" defTabSz="768095">
              <a:spcBef>
                <a:spcPts val="800"/>
              </a:spcBef>
              <a:defRPr sz="2351"/>
            </a:pPr>
          </a:p>
        </p:txBody>
      </p:sp>
      <p:graphicFrame>
        <p:nvGraphicFramePr>
          <p:cNvPr id="670" name="Диаграмма 5"/>
          <p:cNvGraphicFramePr/>
          <p:nvPr/>
        </p:nvGraphicFramePr>
        <p:xfrm>
          <a:off x="1018359" y="1184745"/>
          <a:ext cx="7832965" cy="519799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4" name="CustomShape 1"/>
          <p:cNvGrpSpPr/>
          <p:nvPr/>
        </p:nvGrpSpPr>
        <p:grpSpPr>
          <a:xfrm>
            <a:off x="0" y="214200"/>
            <a:ext cx="9143280" cy="1142280"/>
            <a:chOff x="0" y="0"/>
            <a:chExt cx="9143279" cy="1142279"/>
          </a:xfrm>
        </p:grpSpPr>
        <p:sp>
          <p:nvSpPr>
            <p:cNvPr id="672" name="Прямоугольник"/>
            <p:cNvSpPr/>
            <p:nvPr/>
          </p:nvSpPr>
          <p:spPr>
            <a:xfrm>
              <a:off x="0" y="0"/>
              <a:ext cx="9143280" cy="1142280"/>
            </a:xfrm>
            <a:prstGeom prst="rect">
              <a:avLst/>
            </a:prstGeom>
            <a:gradFill flip="none" rotWithShape="1">
              <a:gsLst>
                <a:gs pos="0">
                  <a:srgbClr val="FDEADA"/>
                </a:gs>
                <a:gs pos="100000">
                  <a:srgbClr val="FAC090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pc="-1" sz="4400"/>
              </a:pPr>
            </a:p>
          </p:txBody>
        </p:sp>
        <p:sp>
          <p:nvSpPr>
            <p:cNvPr id="673" name="Информационные ресурсы"/>
            <p:cNvSpPr txBox="1"/>
            <p:nvPr/>
          </p:nvSpPr>
          <p:spPr>
            <a:xfrm>
              <a:off x="45000" y="214159"/>
              <a:ext cx="9053280" cy="7139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b="1" spc="-1" sz="4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Информационные ресурсы</a:t>
              </a:r>
            </a:p>
          </p:txBody>
        </p:sp>
      </p:grpSp>
      <p:sp>
        <p:nvSpPr>
          <p:cNvPr id="675" name="CustomShape 2"/>
          <p:cNvSpPr txBox="1"/>
          <p:nvPr/>
        </p:nvSpPr>
        <p:spPr>
          <a:xfrm>
            <a:off x="502200" y="1571760"/>
            <a:ext cx="8138880" cy="45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normAutofit fontScale="100000" lnSpcReduction="0"/>
          </a:bodyPr>
          <a:lstStyle/>
          <a:p>
            <a:pPr marL="343080" indent="-342359">
              <a:spcBef>
                <a:spcPts val="400"/>
              </a:spcBef>
              <a:buClr>
                <a:srgbClr val="1F497D"/>
              </a:buClr>
              <a:buSzPct val="100000"/>
              <a:buFont typeface="Arial"/>
              <a:buChar char="•"/>
              <a:defRPr b="1" spc="-100" sz="22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Федеральный государственный образовательный стандарт начального общего образования // [Электронный ресурс] http://standart edu.ru/catalog.aspx?CatalogId=959.</a:t>
            </a:r>
            <a:endParaRPr spc="-1" sz="2400"/>
          </a:p>
          <a:p>
            <a:pPr marL="343080" indent="-342359">
              <a:spcBef>
                <a:spcPts val="400"/>
              </a:spcBef>
              <a:buClr>
                <a:srgbClr val="1F497D"/>
              </a:buClr>
              <a:buSzPct val="100000"/>
              <a:buFont typeface="Arial"/>
              <a:buChar char="•"/>
              <a:defRPr b="1" spc="-100" sz="22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Бондаренко Г. И. Развитие умений смыслового чтения в начальной школе / Г. И. Бондаренко // Начальная школа плюс: до и после // Электронный ресурс www.school 2100.ru</a:t>
            </a:r>
            <a:endParaRPr spc="-1" sz="2400"/>
          </a:p>
          <a:p>
            <a:pPr marL="343080" indent="-342359">
              <a:spcBef>
                <a:spcPts val="400"/>
              </a:spcBef>
              <a:buClr>
                <a:srgbClr val="1F497D"/>
              </a:buClr>
              <a:buSzPct val="100000"/>
              <a:buFont typeface="Arial"/>
              <a:buChar char="•"/>
              <a:defRPr b="1" spc="-100" sz="22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Климанова Л. Обучение чтению в начальных классах//Школа</a:t>
            </a:r>
            <a:endParaRPr spc="-1" sz="2400"/>
          </a:p>
          <a:p>
            <a:pPr marL="343080" indent="-342359">
              <a:spcBef>
                <a:spcPts val="400"/>
              </a:spcBef>
              <a:buClr>
                <a:srgbClr val="1F497D"/>
              </a:buClr>
              <a:buSzPct val="100000"/>
              <a:buFont typeface="Arial"/>
              <a:buChar char="•"/>
              <a:defRPr b="1" spc="-100" sz="22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Львов М.Р., Горецкий В.Г. Сосновская О.В. Методика преподавания русского языка в начальных классах. – М.:2000</a:t>
            </a:r>
            <a:endParaRPr spc="-1" sz="24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