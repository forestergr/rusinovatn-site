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DDCA"/>
          </a:solidFill>
        </a:fill>
      </a:tcStyle>
    </a:wholeTbl>
    <a:band2H>
      <a:tcTxStyle b="def" i="def"/>
      <a:tcStyle>
        <a:tcBdr/>
        <a:fill>
          <a:solidFill>
            <a:srgbClr val="F6EF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Линия"/>
          <p:cNvSpPr/>
          <p:nvPr/>
        </p:nvSpPr>
        <p:spPr>
          <a:xfrm flipH="1">
            <a:off x="7315199" y="1066800"/>
            <a:ext cx="1" cy="44958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Текст заголовка"/>
          <p:cNvSpPr txBox="1"/>
          <p:nvPr>
            <p:ph type="title"/>
          </p:nvPr>
        </p:nvSpPr>
        <p:spPr>
          <a:xfrm>
            <a:off x="315912" y="466725"/>
            <a:ext cx="6781801" cy="2133600"/>
          </a:xfrm>
          <a:prstGeom prst="rect">
            <a:avLst/>
          </a:prstGeom>
        </p:spPr>
        <p:txBody>
          <a:bodyPr/>
          <a:lstStyle>
            <a:lvl1pPr algn="r">
              <a:defRPr sz="4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6" name="Уровень текста 1…"/>
          <p:cNvSpPr txBox="1"/>
          <p:nvPr>
            <p:ph type="body" sz="half" idx="1"/>
          </p:nvPr>
        </p:nvSpPr>
        <p:spPr>
          <a:xfrm>
            <a:off x="849312" y="3049587"/>
            <a:ext cx="6248401" cy="2362201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3200"/>
            </a:lvl1pPr>
            <a:lvl2pPr marL="0" indent="344487" algn="r">
              <a:buClrTx/>
              <a:buSzTx/>
              <a:buNone/>
              <a:defRPr sz="3200"/>
            </a:lvl2pPr>
            <a:lvl3pPr marL="0" indent="693737" algn="r">
              <a:buClrTx/>
              <a:buSzTx/>
              <a:buNone/>
              <a:defRPr sz="3200"/>
            </a:lvl3pPr>
            <a:lvl4pPr marL="0" indent="989012" algn="r">
              <a:buClrTx/>
              <a:buSzTx/>
              <a:buNone/>
              <a:defRPr sz="3200"/>
            </a:lvl4pPr>
            <a:lvl5pPr marL="0" indent="1282700" algn="r">
              <a:buClrTx/>
              <a:buSzTx/>
              <a:buNone/>
              <a:defRPr sz="32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grpSp>
        <p:nvGrpSpPr>
          <p:cNvPr id="78" name="Сгруппировать"/>
          <p:cNvGrpSpPr/>
          <p:nvPr/>
        </p:nvGrpSpPr>
        <p:grpSpPr>
          <a:xfrm>
            <a:off x="7493000" y="2992437"/>
            <a:ext cx="1338263" cy="2189163"/>
            <a:chOff x="0" y="0"/>
            <a:chExt cx="1338262" cy="2189162"/>
          </a:xfrm>
        </p:grpSpPr>
        <p:sp>
          <p:nvSpPr>
            <p:cNvPr id="47" name="Кружок"/>
            <p:cNvSpPr/>
            <p:nvPr/>
          </p:nvSpPr>
          <p:spPr>
            <a:xfrm>
              <a:off x="0" y="0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8" name="Кружок"/>
            <p:cNvSpPr/>
            <p:nvPr/>
          </p:nvSpPr>
          <p:spPr>
            <a:xfrm>
              <a:off x="284162" y="0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9" name="Кружок"/>
            <p:cNvSpPr/>
            <p:nvPr/>
          </p:nvSpPr>
          <p:spPr>
            <a:xfrm>
              <a:off x="568325" y="0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0" name="Кружок"/>
            <p:cNvSpPr/>
            <p:nvPr/>
          </p:nvSpPr>
          <p:spPr>
            <a:xfrm>
              <a:off x="0" y="284162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1" name="Кружок"/>
            <p:cNvSpPr/>
            <p:nvPr/>
          </p:nvSpPr>
          <p:spPr>
            <a:xfrm>
              <a:off x="284162" y="284162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2" name="Кружок"/>
            <p:cNvSpPr/>
            <p:nvPr/>
          </p:nvSpPr>
          <p:spPr>
            <a:xfrm>
              <a:off x="568325" y="284162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3" name="Кружок"/>
            <p:cNvSpPr/>
            <p:nvPr/>
          </p:nvSpPr>
          <p:spPr>
            <a:xfrm>
              <a:off x="852487" y="284162"/>
              <a:ext cx="201613" cy="20161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4" name="Кружок"/>
            <p:cNvSpPr/>
            <p:nvPr/>
          </p:nvSpPr>
          <p:spPr>
            <a:xfrm>
              <a:off x="0" y="568325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5" name="Кружок"/>
            <p:cNvSpPr/>
            <p:nvPr/>
          </p:nvSpPr>
          <p:spPr>
            <a:xfrm>
              <a:off x="284162" y="568325"/>
              <a:ext cx="201613" cy="201613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6" name="Кружок"/>
            <p:cNvSpPr/>
            <p:nvPr/>
          </p:nvSpPr>
          <p:spPr>
            <a:xfrm>
              <a:off x="568325" y="568325"/>
              <a:ext cx="201613" cy="20161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7" name="Кружок"/>
            <p:cNvSpPr/>
            <p:nvPr/>
          </p:nvSpPr>
          <p:spPr>
            <a:xfrm>
              <a:off x="852487" y="568325"/>
              <a:ext cx="201613" cy="20161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8" name="Кружок"/>
            <p:cNvSpPr/>
            <p:nvPr/>
          </p:nvSpPr>
          <p:spPr>
            <a:xfrm>
              <a:off x="1136650" y="568325"/>
              <a:ext cx="201613" cy="20161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9" name="Кружок"/>
            <p:cNvSpPr/>
            <p:nvPr/>
          </p:nvSpPr>
          <p:spPr>
            <a:xfrm>
              <a:off x="0" y="850900"/>
              <a:ext cx="201613" cy="203200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0" name="Кружок"/>
            <p:cNvSpPr/>
            <p:nvPr/>
          </p:nvSpPr>
          <p:spPr>
            <a:xfrm>
              <a:off x="284162" y="850900"/>
              <a:ext cx="201613" cy="2032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1" name="Кружок"/>
            <p:cNvSpPr/>
            <p:nvPr/>
          </p:nvSpPr>
          <p:spPr>
            <a:xfrm>
              <a:off x="568325" y="850900"/>
              <a:ext cx="201613" cy="2032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2" name="Кружок"/>
            <p:cNvSpPr/>
            <p:nvPr/>
          </p:nvSpPr>
          <p:spPr>
            <a:xfrm>
              <a:off x="852487" y="850900"/>
              <a:ext cx="201613" cy="203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" name="Кружок"/>
            <p:cNvSpPr/>
            <p:nvPr/>
          </p:nvSpPr>
          <p:spPr>
            <a:xfrm>
              <a:off x="0" y="1135062"/>
              <a:ext cx="201613" cy="203201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" name="Кружок"/>
            <p:cNvSpPr/>
            <p:nvPr/>
          </p:nvSpPr>
          <p:spPr>
            <a:xfrm>
              <a:off x="284162" y="1135062"/>
              <a:ext cx="201613" cy="203201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5" name="Кружок"/>
            <p:cNvSpPr/>
            <p:nvPr/>
          </p:nvSpPr>
          <p:spPr>
            <a:xfrm>
              <a:off x="568325" y="1135062"/>
              <a:ext cx="201613" cy="20320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" name="Кружок"/>
            <p:cNvSpPr/>
            <p:nvPr/>
          </p:nvSpPr>
          <p:spPr>
            <a:xfrm>
              <a:off x="852487" y="1135062"/>
              <a:ext cx="201613" cy="20320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" name="Кружок"/>
            <p:cNvSpPr/>
            <p:nvPr/>
          </p:nvSpPr>
          <p:spPr>
            <a:xfrm>
              <a:off x="1136650" y="1135062"/>
              <a:ext cx="201613" cy="203201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8" name="Кружок"/>
            <p:cNvSpPr/>
            <p:nvPr/>
          </p:nvSpPr>
          <p:spPr>
            <a:xfrm>
              <a:off x="0" y="1419225"/>
              <a:ext cx="201613" cy="20161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" name="Кружок"/>
            <p:cNvSpPr/>
            <p:nvPr/>
          </p:nvSpPr>
          <p:spPr>
            <a:xfrm>
              <a:off x="284162" y="1419225"/>
              <a:ext cx="201613" cy="20161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0" name="Кружок"/>
            <p:cNvSpPr/>
            <p:nvPr/>
          </p:nvSpPr>
          <p:spPr>
            <a:xfrm>
              <a:off x="568325" y="1419225"/>
              <a:ext cx="201613" cy="20161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" name="Кружок"/>
            <p:cNvSpPr/>
            <p:nvPr/>
          </p:nvSpPr>
          <p:spPr>
            <a:xfrm>
              <a:off x="852487" y="1419225"/>
              <a:ext cx="201613" cy="201613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" name="Кружок"/>
            <p:cNvSpPr/>
            <p:nvPr/>
          </p:nvSpPr>
          <p:spPr>
            <a:xfrm>
              <a:off x="0" y="1703387"/>
              <a:ext cx="201613" cy="20161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3" name="Кружок"/>
            <p:cNvSpPr/>
            <p:nvPr/>
          </p:nvSpPr>
          <p:spPr>
            <a:xfrm>
              <a:off x="284162" y="1703387"/>
              <a:ext cx="201613" cy="20161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4" name="Кружок"/>
            <p:cNvSpPr/>
            <p:nvPr/>
          </p:nvSpPr>
          <p:spPr>
            <a:xfrm>
              <a:off x="568325" y="1703387"/>
              <a:ext cx="201613" cy="201613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5" name="Кружок"/>
            <p:cNvSpPr/>
            <p:nvPr/>
          </p:nvSpPr>
          <p:spPr>
            <a:xfrm>
              <a:off x="852487" y="1703387"/>
              <a:ext cx="201613" cy="201613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6" name="Кружок"/>
            <p:cNvSpPr/>
            <p:nvPr/>
          </p:nvSpPr>
          <p:spPr>
            <a:xfrm>
              <a:off x="284162" y="1987550"/>
              <a:ext cx="201613" cy="201613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7" name="Кружок"/>
            <p:cNvSpPr/>
            <p:nvPr/>
          </p:nvSpPr>
          <p:spPr>
            <a:xfrm>
              <a:off x="852487" y="1987550"/>
              <a:ext cx="201613" cy="201613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79" name="Линия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88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97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06" name="Уровень текста 1…"/>
          <p:cNvSpPr txBox="1"/>
          <p:nvPr>
            <p:ph type="body" sz="half" idx="1"/>
          </p:nvPr>
        </p:nvSpPr>
        <p:spPr>
          <a:xfrm>
            <a:off x="457200" y="1719262"/>
            <a:ext cx="4038600" cy="4411663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иния"/>
          <p:cNvSpPr/>
          <p:nvPr/>
        </p:nvSpPr>
        <p:spPr>
          <a:xfrm>
            <a:off x="7962900" y="152400"/>
            <a:ext cx="0" cy="15240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4" name="Сгруппировать"/>
          <p:cNvGrpSpPr/>
          <p:nvPr/>
        </p:nvGrpSpPr>
        <p:grpSpPr>
          <a:xfrm>
            <a:off x="8153400" y="152400"/>
            <a:ext cx="792163" cy="1295400"/>
            <a:chOff x="0" y="0"/>
            <a:chExt cx="792162" cy="1295399"/>
          </a:xfrm>
        </p:grpSpPr>
        <p:sp>
          <p:nvSpPr>
            <p:cNvPr id="3" name="Кружок"/>
            <p:cNvSpPr/>
            <p:nvPr/>
          </p:nvSpPr>
          <p:spPr>
            <a:xfrm>
              <a:off x="0" y="0"/>
              <a:ext cx="120025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" name="Кружок"/>
            <p:cNvSpPr/>
            <p:nvPr/>
          </p:nvSpPr>
          <p:spPr>
            <a:xfrm>
              <a:off x="168034" y="0"/>
              <a:ext cx="120026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" name="Кружок"/>
            <p:cNvSpPr/>
            <p:nvPr/>
          </p:nvSpPr>
          <p:spPr>
            <a:xfrm>
              <a:off x="336068" y="0"/>
              <a:ext cx="120026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" name="Кружок"/>
            <p:cNvSpPr/>
            <p:nvPr/>
          </p:nvSpPr>
          <p:spPr>
            <a:xfrm>
              <a:off x="0" y="167922"/>
              <a:ext cx="120025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" name="Кружок"/>
            <p:cNvSpPr/>
            <p:nvPr/>
          </p:nvSpPr>
          <p:spPr>
            <a:xfrm>
              <a:off x="168034" y="167922"/>
              <a:ext cx="120026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" name="Кружок"/>
            <p:cNvSpPr/>
            <p:nvPr/>
          </p:nvSpPr>
          <p:spPr>
            <a:xfrm>
              <a:off x="336068" y="167922"/>
              <a:ext cx="120026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" name="Кружок"/>
            <p:cNvSpPr/>
            <p:nvPr/>
          </p:nvSpPr>
          <p:spPr>
            <a:xfrm>
              <a:off x="504103" y="167922"/>
              <a:ext cx="120026" cy="11994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" name="Кружок"/>
            <p:cNvSpPr/>
            <p:nvPr/>
          </p:nvSpPr>
          <p:spPr>
            <a:xfrm>
              <a:off x="0" y="335844"/>
              <a:ext cx="120025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" name="Кружок"/>
            <p:cNvSpPr/>
            <p:nvPr/>
          </p:nvSpPr>
          <p:spPr>
            <a:xfrm>
              <a:off x="168034" y="335844"/>
              <a:ext cx="120026" cy="119945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2" name="Кружок"/>
            <p:cNvSpPr/>
            <p:nvPr/>
          </p:nvSpPr>
          <p:spPr>
            <a:xfrm>
              <a:off x="336068" y="335844"/>
              <a:ext cx="120026" cy="11994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3" name="Кружок"/>
            <p:cNvSpPr/>
            <p:nvPr/>
          </p:nvSpPr>
          <p:spPr>
            <a:xfrm>
              <a:off x="504103" y="335844"/>
              <a:ext cx="120026" cy="11994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4" name="Кружок"/>
            <p:cNvSpPr/>
            <p:nvPr/>
          </p:nvSpPr>
          <p:spPr>
            <a:xfrm>
              <a:off x="672137" y="335844"/>
              <a:ext cx="120026" cy="11994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5" name="Кружок"/>
            <p:cNvSpPr/>
            <p:nvPr/>
          </p:nvSpPr>
          <p:spPr>
            <a:xfrm>
              <a:off x="0" y="503766"/>
              <a:ext cx="120025" cy="119946"/>
            </a:xfrm>
            <a:prstGeom prst="ellipse">
              <a:avLst/>
            </a:prstGeom>
            <a:solidFill>
              <a:srgbClr val="7C13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6" name="Кружок"/>
            <p:cNvSpPr/>
            <p:nvPr/>
          </p:nvSpPr>
          <p:spPr>
            <a:xfrm>
              <a:off x="168034" y="503766"/>
              <a:ext cx="120026" cy="11994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7" name="Кружок"/>
            <p:cNvSpPr/>
            <p:nvPr/>
          </p:nvSpPr>
          <p:spPr>
            <a:xfrm>
              <a:off x="336068" y="503766"/>
              <a:ext cx="120026" cy="11994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8" name="Кружок"/>
            <p:cNvSpPr/>
            <p:nvPr/>
          </p:nvSpPr>
          <p:spPr>
            <a:xfrm>
              <a:off x="504103" y="503766"/>
              <a:ext cx="120026" cy="119946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9" name="Кружок"/>
            <p:cNvSpPr/>
            <p:nvPr/>
          </p:nvSpPr>
          <p:spPr>
            <a:xfrm>
              <a:off x="0" y="671688"/>
              <a:ext cx="120025" cy="11994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0" name="Кружок"/>
            <p:cNvSpPr/>
            <p:nvPr/>
          </p:nvSpPr>
          <p:spPr>
            <a:xfrm>
              <a:off x="168034" y="671688"/>
              <a:ext cx="120026" cy="11994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1" name="Кружок"/>
            <p:cNvSpPr/>
            <p:nvPr/>
          </p:nvSpPr>
          <p:spPr>
            <a:xfrm>
              <a:off x="336068" y="671688"/>
              <a:ext cx="120026" cy="119946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2" name="Кружок"/>
            <p:cNvSpPr/>
            <p:nvPr/>
          </p:nvSpPr>
          <p:spPr>
            <a:xfrm>
              <a:off x="504103" y="671688"/>
              <a:ext cx="120026" cy="119946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3" name="Кружок"/>
            <p:cNvSpPr/>
            <p:nvPr/>
          </p:nvSpPr>
          <p:spPr>
            <a:xfrm>
              <a:off x="672137" y="671688"/>
              <a:ext cx="120026" cy="119946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" name="Кружок"/>
            <p:cNvSpPr/>
            <p:nvPr/>
          </p:nvSpPr>
          <p:spPr>
            <a:xfrm>
              <a:off x="0" y="839611"/>
              <a:ext cx="120025" cy="11994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" name="Кружок"/>
            <p:cNvSpPr/>
            <p:nvPr/>
          </p:nvSpPr>
          <p:spPr>
            <a:xfrm>
              <a:off x="168034" y="839611"/>
              <a:ext cx="120026" cy="11994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6" name="Кружок"/>
            <p:cNvSpPr/>
            <p:nvPr/>
          </p:nvSpPr>
          <p:spPr>
            <a:xfrm>
              <a:off x="336068" y="839611"/>
              <a:ext cx="120026" cy="11994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" name="Кружок"/>
            <p:cNvSpPr/>
            <p:nvPr/>
          </p:nvSpPr>
          <p:spPr>
            <a:xfrm>
              <a:off x="504103" y="839611"/>
              <a:ext cx="120026" cy="119945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" name="Кружок"/>
            <p:cNvSpPr/>
            <p:nvPr/>
          </p:nvSpPr>
          <p:spPr>
            <a:xfrm>
              <a:off x="0" y="1007533"/>
              <a:ext cx="120025" cy="11994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9" name="Кружок"/>
            <p:cNvSpPr/>
            <p:nvPr/>
          </p:nvSpPr>
          <p:spPr>
            <a:xfrm>
              <a:off x="168034" y="1007533"/>
              <a:ext cx="120026" cy="11994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30" name="Кружок"/>
            <p:cNvSpPr/>
            <p:nvPr/>
          </p:nvSpPr>
          <p:spPr>
            <a:xfrm>
              <a:off x="336068" y="1007533"/>
              <a:ext cx="120026" cy="119945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31" name="Кружок"/>
            <p:cNvSpPr/>
            <p:nvPr/>
          </p:nvSpPr>
          <p:spPr>
            <a:xfrm>
              <a:off x="504103" y="1007533"/>
              <a:ext cx="120026" cy="119945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32" name="Кружок"/>
            <p:cNvSpPr/>
            <p:nvPr/>
          </p:nvSpPr>
          <p:spPr>
            <a:xfrm>
              <a:off x="168034" y="1175455"/>
              <a:ext cx="120026" cy="119945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33" name="Кружок"/>
            <p:cNvSpPr/>
            <p:nvPr/>
          </p:nvSpPr>
          <p:spPr>
            <a:xfrm>
              <a:off x="504103" y="1175455"/>
              <a:ext cx="120026" cy="119945"/>
            </a:xfrm>
            <a:prstGeom prst="ellipse">
              <a:avLst/>
            </a:prstGeom>
            <a:solidFill>
              <a:srgbClr val="CCCC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35" name="Текст заголовка"/>
          <p:cNvSpPr txBox="1"/>
          <p:nvPr>
            <p:ph type="title"/>
          </p:nvPr>
        </p:nvSpPr>
        <p:spPr>
          <a:xfrm>
            <a:off x="457200" y="122237"/>
            <a:ext cx="7543800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6" name="Уровень текста 1…"/>
          <p:cNvSpPr txBox="1"/>
          <p:nvPr>
            <p:ph type="body" idx="1"/>
          </p:nvPr>
        </p:nvSpPr>
        <p:spPr>
          <a:xfrm>
            <a:off x="457200" y="1719262"/>
            <a:ext cx="8229600" cy="4411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7" name="Номер слайда"/>
          <p:cNvSpPr txBox="1"/>
          <p:nvPr>
            <p:ph type="sldNum" sz="quarter" idx="2"/>
          </p:nvPr>
        </p:nvSpPr>
        <p:spPr>
          <a:xfrm>
            <a:off x="8441397" y="6248400"/>
            <a:ext cx="245404" cy="2269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900" u="none">
          <a:solidFill>
            <a:srgbClr val="7C1302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70000"/>
        <a:buFontTx/>
        <a:buChar char="▪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45636" marR="0" indent="-40114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70000"/>
        <a:buFontTx/>
        <a:buChar char="●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076808" marR="0" indent="-38307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70000"/>
        <a:buFontTx/>
        <a:buChar char="●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427162" marR="0" indent="-43815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75000"/>
        <a:buFontTx/>
        <a:buChar char="▪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1809220" marR="0" indent="-5265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80000"/>
        <a:buFontTx/>
        <a:buChar char="▪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266420" marR="0" indent="-5265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80000"/>
        <a:buFont typeface="Wingdings"/>
        <a:buChar char="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723620" marR="0" indent="-5265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80000"/>
        <a:buFont typeface="Wingdings"/>
        <a:buChar char="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180820" marR="0" indent="-5265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80000"/>
        <a:buFont typeface="Wingdings"/>
        <a:buChar char="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3638020" marR="0" indent="-5265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7C1302"/>
        </a:buClr>
        <a:buSzPct val="80000"/>
        <a:buFont typeface="Wingdings"/>
        <a:buChar char="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Нажмите дважды"/>
          <p:cNvSpPr txBox="1"/>
          <p:nvPr>
            <p:ph type="title"/>
          </p:nvPr>
        </p:nvSpPr>
        <p:spPr>
          <a:xfrm>
            <a:off x="457200" y="122237"/>
            <a:ext cx="7543800" cy="1295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Иррациональные уравнения –  уравнения, в которых переменная                          содержится под знаком корня."/>
          <p:cNvSpPr txBox="1"/>
          <p:nvPr>
            <p:ph type="body" idx="1"/>
          </p:nvPr>
        </p:nvSpPr>
        <p:spPr>
          <a:xfrm>
            <a:off x="457200" y="691356"/>
            <a:ext cx="8507413" cy="5475288"/>
          </a:xfrm>
          <a:prstGeom prst="rect">
            <a:avLst/>
          </a:prstGeom>
        </p:spPr>
        <p:txBody>
          <a:bodyPr anchor="ctr"/>
          <a:lstStyle/>
          <a:p>
            <a:pPr marL="137160" indent="-137160" defTabSz="365760">
              <a:spcBef>
                <a:spcPts val="200"/>
              </a:spcBef>
              <a:buSzTx/>
              <a:buFont typeface="Wingdings"/>
              <a:buNone/>
              <a:defRPr sz="2320">
                <a:solidFill>
                  <a:schemeClr val="accent1"/>
                </a:solidFill>
                <a:latin typeface="Monotype Corsiva"/>
                <a:ea typeface="Monotype Corsiva"/>
                <a:cs typeface="Monotype Corsiva"/>
                <a:sym typeface="Monotype Corsiva"/>
              </a:defRPr>
            </a:pPr>
          </a:p>
          <a:p>
            <a:pPr marL="71119" indent="-71119" algn="ctr" defTabSz="365760">
              <a:lnSpc>
                <a:spcPct val="150000"/>
              </a:lnSpc>
              <a:spcBef>
                <a:spcPts val="500"/>
              </a:spcBef>
              <a:buSzTx/>
              <a:buFont typeface="Wingdings"/>
              <a:buNone/>
              <a:defRPr sz="2440">
                <a:solidFill>
                  <a:schemeClr val="accent1"/>
                </a:solidFill>
                <a:latin typeface="Monotype Corsiva"/>
                <a:ea typeface="Monotype Corsiva"/>
                <a:cs typeface="Monotype Corsiva"/>
                <a:sym typeface="Monotype Corsiva"/>
              </a:defRPr>
            </a:pPr>
            <a:endParaRPr sz="2320"/>
          </a:p>
          <a:p>
            <a:pPr marL="71119" indent="-71119" algn="ctr" defTabSz="365760">
              <a:lnSpc>
                <a:spcPct val="150000"/>
              </a:lnSpc>
              <a:spcBef>
                <a:spcPts val="500"/>
              </a:spcBef>
              <a:buSzTx/>
              <a:buFont typeface="Wingdings"/>
              <a:buNone/>
              <a:defRPr sz="2440">
                <a:solidFill>
                  <a:schemeClr val="accent1"/>
                </a:solidFill>
                <a:latin typeface="Monotype Corsiva"/>
                <a:ea typeface="Monotype Corsiva"/>
                <a:cs typeface="Monotype Corsiva"/>
                <a:sym typeface="Monotype Corsiva"/>
              </a:defRPr>
            </a:pPr>
            <a:r>
              <a:rPr sz="4240">
                <a:latin typeface="Microsoft Sans Serif"/>
                <a:ea typeface="Microsoft Sans Serif"/>
                <a:cs typeface="Microsoft Sans Serif"/>
                <a:sym typeface="Microsoft Sans Serif"/>
              </a:rPr>
              <a:t>Иррациональные уравнения –  уравнения, в которых переменная                          содержится под знаком корня. </a:t>
            </a:r>
            <a:r>
              <a:t>                         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Иррациональные уравнения – уравнения, в которых переменная содержится под знаком корня"/>
          <p:cNvSpPr txBox="1"/>
          <p:nvPr>
            <p:ph type="title"/>
          </p:nvPr>
        </p:nvSpPr>
        <p:spPr>
          <a:xfrm>
            <a:off x="468312" y="404812"/>
            <a:ext cx="6972301" cy="1371601"/>
          </a:xfrm>
          <a:prstGeom prst="rect">
            <a:avLst/>
          </a:prstGeom>
        </p:spPr>
        <p:txBody>
          <a:bodyPr anchor="t"/>
          <a:lstStyle/>
          <a:p>
            <a:pPr algn="just" defTabSz="667512">
              <a:defRPr b="0" sz="2044">
                <a:solidFill>
                  <a:schemeClr val="accent1"/>
                </a:solidFill>
                <a:latin typeface="Monotype Corsiva"/>
                <a:ea typeface="Monotype Corsiva"/>
                <a:cs typeface="Monotype Corsiva"/>
                <a:sym typeface="Monotype Corsiva"/>
              </a:defRPr>
            </a:pPr>
            <a:r>
              <a:t>Иррациональные уравнения – уравнения, в которых переменная содержится под знаком корня</a:t>
            </a:r>
            <a:r>
              <a:rPr sz="2190"/>
              <a:t>  </a:t>
            </a:r>
            <a:br>
              <a:rPr sz="2190"/>
            </a:br>
          </a:p>
        </p:txBody>
      </p:sp>
      <p:sp>
        <p:nvSpPr>
          <p:cNvPr id="127" name="Нажмите дважды"/>
          <p:cNvSpPr txBox="1"/>
          <p:nvPr>
            <p:ph type="body" sz="half" idx="1"/>
          </p:nvPr>
        </p:nvSpPr>
        <p:spPr>
          <a:xfrm>
            <a:off x="615950" y="1395412"/>
            <a:ext cx="7935913" cy="2730501"/>
          </a:xfrm>
          <a:prstGeom prst="rect">
            <a:avLst/>
          </a:prstGeom>
        </p:spPr>
        <p:txBody>
          <a:bodyPr/>
          <a:lstStyle/>
          <a:p>
            <a:pPr>
              <a:buChar char="●"/>
            </a:pPr>
          </a:p>
        </p:txBody>
      </p:sp>
      <p:pic>
        <p:nvPicPr>
          <p:cNvPr id="128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0562" y="-2474913"/>
            <a:ext cx="3221038" cy="6084888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Уравнения 1,3,4 являются иррациональными"/>
          <p:cNvSpPr txBox="1"/>
          <p:nvPr/>
        </p:nvSpPr>
        <p:spPr>
          <a:xfrm>
            <a:off x="872807" y="5300662"/>
            <a:ext cx="71094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Уравнения 1,3,4 являются иррациональными</a:t>
            </a:r>
          </a:p>
        </p:txBody>
      </p:sp>
      <p:pic>
        <p:nvPicPr>
          <p:cNvPr id="130" name="image.pdf" descr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95512" y="2114550"/>
            <a:ext cx="3517901" cy="24828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9" grpId="2"/>
      <p:bldP build="whole" bldLvl="1" animBg="1" rev="0" advAuto="0" spid="13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Графический способ решения уравнения"/>
          <p:cNvSpPr txBox="1"/>
          <p:nvPr>
            <p:ph type="title"/>
          </p:nvPr>
        </p:nvSpPr>
        <p:spPr>
          <a:xfrm>
            <a:off x="457200" y="122237"/>
            <a:ext cx="7543800" cy="1290638"/>
          </a:xfrm>
          <a:prstGeom prst="rect">
            <a:avLst/>
          </a:prstGeom>
        </p:spPr>
        <p:txBody>
          <a:bodyPr/>
          <a:lstStyle/>
          <a:p>
            <a:pPr>
              <a:defRPr sz="3500"/>
            </a:pPr>
            <a:r>
              <a:t>Графический способ решения уравнения</a:t>
            </a:r>
            <a:r>
              <a:rPr sz="2600">
                <a:solidFill>
                  <a:srgbClr val="000000"/>
                </a:solidFill>
              </a:rPr>
              <a:t> 	</a:t>
            </a:r>
          </a:p>
        </p:txBody>
      </p:sp>
      <p:sp>
        <p:nvSpPr>
          <p:cNvPr id="133" name="Прямоугольник"/>
          <p:cNvSpPr/>
          <p:nvPr/>
        </p:nvSpPr>
        <p:spPr>
          <a:xfrm>
            <a:off x="323850" y="1341437"/>
            <a:ext cx="8215313" cy="4525963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Фигура"/>
          <p:cNvSpPr/>
          <p:nvPr/>
        </p:nvSpPr>
        <p:spPr>
          <a:xfrm>
            <a:off x="4821237" y="1527175"/>
            <a:ext cx="76201" cy="4427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12" y="21568"/>
                </a:moveTo>
                <a:lnTo>
                  <a:pt x="9112" y="209"/>
                </a:lnTo>
                <a:cubicBezTo>
                  <a:pt x="9112" y="191"/>
                  <a:pt x="9956" y="177"/>
                  <a:pt x="10800" y="177"/>
                </a:cubicBezTo>
                <a:cubicBezTo>
                  <a:pt x="11812" y="177"/>
                  <a:pt x="12656" y="191"/>
                  <a:pt x="12656" y="209"/>
                </a:cubicBezTo>
                <a:lnTo>
                  <a:pt x="12656" y="21568"/>
                </a:lnTo>
                <a:cubicBezTo>
                  <a:pt x="12656" y="21586"/>
                  <a:pt x="11812" y="21600"/>
                  <a:pt x="10800" y="21600"/>
                </a:cubicBezTo>
                <a:cubicBezTo>
                  <a:pt x="9956" y="21600"/>
                  <a:pt x="9112" y="21586"/>
                  <a:pt x="9112" y="21568"/>
                </a:cubicBezTo>
                <a:close/>
                <a:moveTo>
                  <a:pt x="0" y="371"/>
                </a:moveTo>
                <a:lnTo>
                  <a:pt x="10800" y="0"/>
                </a:lnTo>
                <a:lnTo>
                  <a:pt x="21600" y="371"/>
                </a:lnTo>
                <a:lnTo>
                  <a:pt x="0" y="371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Фигура"/>
          <p:cNvSpPr/>
          <p:nvPr/>
        </p:nvSpPr>
        <p:spPr>
          <a:xfrm>
            <a:off x="908050" y="3733800"/>
            <a:ext cx="7650163" cy="74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" y="9113"/>
                </a:moveTo>
                <a:lnTo>
                  <a:pt x="21481" y="9113"/>
                </a:lnTo>
                <a:cubicBezTo>
                  <a:pt x="21491" y="9113"/>
                  <a:pt x="21499" y="9956"/>
                  <a:pt x="21499" y="10800"/>
                </a:cubicBezTo>
                <a:cubicBezTo>
                  <a:pt x="21499" y="11812"/>
                  <a:pt x="21491" y="12656"/>
                  <a:pt x="21481" y="12656"/>
                </a:cubicBezTo>
                <a:lnTo>
                  <a:pt x="17" y="12656"/>
                </a:lnTo>
                <a:cubicBezTo>
                  <a:pt x="8" y="12656"/>
                  <a:pt x="0" y="11812"/>
                  <a:pt x="0" y="10800"/>
                </a:cubicBezTo>
                <a:cubicBezTo>
                  <a:pt x="0" y="9956"/>
                  <a:pt x="8" y="9113"/>
                  <a:pt x="17" y="9113"/>
                </a:cubicBezTo>
                <a:close/>
                <a:moveTo>
                  <a:pt x="21385" y="0"/>
                </a:moveTo>
                <a:lnTo>
                  <a:pt x="21600" y="10800"/>
                </a:lnTo>
                <a:lnTo>
                  <a:pt x="21385" y="21600"/>
                </a:lnTo>
                <a:lnTo>
                  <a:pt x="21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Линия"/>
          <p:cNvSpPr/>
          <p:nvPr/>
        </p:nvSpPr>
        <p:spPr>
          <a:xfrm flipV="1">
            <a:off x="2484437" y="1412875"/>
            <a:ext cx="4900613" cy="4578351"/>
          </a:xfrm>
          <a:prstGeom prst="line">
            <a:avLst/>
          </a:prstGeom>
          <a:ln w="28575">
            <a:solidFill>
              <a:srgbClr val="000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у=х"/>
          <p:cNvSpPr txBox="1"/>
          <p:nvPr/>
        </p:nvSpPr>
        <p:spPr>
          <a:xfrm>
            <a:off x="6372225" y="1484312"/>
            <a:ext cx="41503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/>
            <a:r>
              <a:t>у=х</a:t>
            </a:r>
          </a:p>
        </p:txBody>
      </p:sp>
      <p:sp>
        <p:nvSpPr>
          <p:cNvPr id="138" name="Линия"/>
          <p:cNvSpPr/>
          <p:nvPr/>
        </p:nvSpPr>
        <p:spPr>
          <a:xfrm>
            <a:off x="4787900" y="3141662"/>
            <a:ext cx="215900" cy="1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1"/>
          <p:cNvSpPr txBox="1"/>
          <p:nvPr/>
        </p:nvSpPr>
        <p:spPr>
          <a:xfrm>
            <a:off x="4356100" y="2997200"/>
            <a:ext cx="15396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40" name="Линия"/>
          <p:cNvSpPr/>
          <p:nvPr/>
        </p:nvSpPr>
        <p:spPr>
          <a:xfrm>
            <a:off x="550862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1"/>
          <p:cNvSpPr txBox="1"/>
          <p:nvPr/>
        </p:nvSpPr>
        <p:spPr>
          <a:xfrm>
            <a:off x="5435600" y="4005262"/>
            <a:ext cx="2159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42" name="Линия"/>
          <p:cNvSpPr/>
          <p:nvPr/>
        </p:nvSpPr>
        <p:spPr>
          <a:xfrm>
            <a:off x="62277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Линия"/>
          <p:cNvSpPr/>
          <p:nvPr/>
        </p:nvSpPr>
        <p:spPr>
          <a:xfrm>
            <a:off x="3635375" y="2349499"/>
            <a:ext cx="3384550" cy="14398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74" y="17212"/>
                  <a:pt x="547" y="12858"/>
                  <a:pt x="4144" y="9252"/>
                </a:cubicBezTo>
                <a:cubicBezTo>
                  <a:pt x="7740" y="5647"/>
                  <a:pt x="18692" y="1531"/>
                  <a:pt x="21600" y="0"/>
                </a:cubicBezTo>
              </a:path>
            </a:pathLst>
          </a:custGeom>
          <a:ln w="25400">
            <a:solidFill>
              <a:srgbClr val="9933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У="/>
          <p:cNvSpPr txBox="1"/>
          <p:nvPr/>
        </p:nvSpPr>
        <p:spPr>
          <a:xfrm>
            <a:off x="6562407" y="2636837"/>
            <a:ext cx="70072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У=</a:t>
            </a:r>
          </a:p>
        </p:txBody>
      </p:sp>
      <p:pic>
        <p:nvPicPr>
          <p:cNvPr id="145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48487" y="2636837"/>
            <a:ext cx="720726" cy="360363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х"/>
          <p:cNvSpPr txBox="1"/>
          <p:nvPr/>
        </p:nvSpPr>
        <p:spPr>
          <a:xfrm>
            <a:off x="8289607" y="3933825"/>
            <a:ext cx="484824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х</a:t>
            </a:r>
          </a:p>
        </p:txBody>
      </p:sp>
      <p:sp>
        <p:nvSpPr>
          <p:cNvPr id="147" name="у"/>
          <p:cNvSpPr txBox="1"/>
          <p:nvPr/>
        </p:nvSpPr>
        <p:spPr>
          <a:xfrm>
            <a:off x="5049519" y="1557337"/>
            <a:ext cx="4133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</a:t>
            </a:r>
          </a:p>
        </p:txBody>
      </p:sp>
      <p:sp>
        <p:nvSpPr>
          <p:cNvPr id="148" name="Линия"/>
          <p:cNvSpPr/>
          <p:nvPr/>
        </p:nvSpPr>
        <p:spPr>
          <a:xfrm>
            <a:off x="42846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Линия"/>
          <p:cNvSpPr/>
          <p:nvPr/>
        </p:nvSpPr>
        <p:spPr>
          <a:xfrm>
            <a:off x="363537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2"/>
          <p:cNvSpPr txBox="1"/>
          <p:nvPr/>
        </p:nvSpPr>
        <p:spPr>
          <a:xfrm>
            <a:off x="6130607" y="3933825"/>
            <a:ext cx="772161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2</a:t>
            </a:r>
          </a:p>
        </p:txBody>
      </p:sp>
      <p:sp>
        <p:nvSpPr>
          <p:cNvPr id="151" name="-2"/>
          <p:cNvSpPr txBox="1"/>
          <p:nvPr/>
        </p:nvSpPr>
        <p:spPr>
          <a:xfrm>
            <a:off x="3393757" y="3860800"/>
            <a:ext cx="484824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b="1" sz="2000"/>
            </a:lvl1pPr>
          </a:lstStyle>
          <a:p>
            <a:pPr/>
            <a:r>
              <a:t>-2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2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Class="entr" nodeType="after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Class="entr" nodeType="afterEffect" presetSubtype="4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3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5" grpId="5"/>
      <p:bldP build="whole" bldLvl="1" animBg="1" rev="0" advAuto="0" spid="143" grpId="3"/>
      <p:bldP build="whole" bldLvl="1" animBg="1" rev="0" advAuto="0" spid="136" grpId="1"/>
      <p:bldP build="whole" bldLvl="1" animBg="1" rev="0" advAuto="0" spid="137" grpId="2"/>
      <p:bldP build="whole" bldLvl="1" animBg="1" rev="0" advAuto="0" spid="144" grpId="4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Графический способ решения уравнения"/>
          <p:cNvSpPr txBox="1"/>
          <p:nvPr>
            <p:ph type="title"/>
          </p:nvPr>
        </p:nvSpPr>
        <p:spPr>
          <a:xfrm>
            <a:off x="468312" y="476250"/>
            <a:ext cx="7543801" cy="768350"/>
          </a:xfrm>
          <a:prstGeom prst="rect">
            <a:avLst/>
          </a:prstGeom>
        </p:spPr>
        <p:txBody>
          <a:bodyPr/>
          <a:lstStyle>
            <a:lvl1pPr defTabSz="740663">
              <a:defRPr sz="2835"/>
            </a:lvl1pPr>
          </a:lstStyle>
          <a:p>
            <a:pPr/>
            <a:r>
              <a:t>Графический способ решения уравнения</a:t>
            </a:r>
          </a:p>
        </p:txBody>
      </p:sp>
      <p:sp>
        <p:nvSpPr>
          <p:cNvPr id="154" name="Фигура"/>
          <p:cNvSpPr/>
          <p:nvPr/>
        </p:nvSpPr>
        <p:spPr>
          <a:xfrm>
            <a:off x="4821237" y="1527175"/>
            <a:ext cx="76201" cy="4427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12" y="21568"/>
                </a:moveTo>
                <a:lnTo>
                  <a:pt x="9112" y="209"/>
                </a:lnTo>
                <a:cubicBezTo>
                  <a:pt x="9112" y="191"/>
                  <a:pt x="9956" y="177"/>
                  <a:pt x="10800" y="177"/>
                </a:cubicBezTo>
                <a:cubicBezTo>
                  <a:pt x="11812" y="177"/>
                  <a:pt x="12656" y="191"/>
                  <a:pt x="12656" y="209"/>
                </a:cubicBezTo>
                <a:lnTo>
                  <a:pt x="12656" y="21568"/>
                </a:lnTo>
                <a:cubicBezTo>
                  <a:pt x="12656" y="21586"/>
                  <a:pt x="11812" y="21600"/>
                  <a:pt x="10800" y="21600"/>
                </a:cubicBezTo>
                <a:cubicBezTo>
                  <a:pt x="9956" y="21600"/>
                  <a:pt x="9112" y="21586"/>
                  <a:pt x="9112" y="21568"/>
                </a:cubicBezTo>
                <a:close/>
                <a:moveTo>
                  <a:pt x="0" y="371"/>
                </a:moveTo>
                <a:lnTo>
                  <a:pt x="10800" y="0"/>
                </a:lnTo>
                <a:lnTo>
                  <a:pt x="21600" y="371"/>
                </a:lnTo>
                <a:lnTo>
                  <a:pt x="0" y="371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Фигура"/>
          <p:cNvSpPr/>
          <p:nvPr/>
        </p:nvSpPr>
        <p:spPr>
          <a:xfrm>
            <a:off x="908050" y="3733800"/>
            <a:ext cx="7650163" cy="74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" y="9113"/>
                </a:moveTo>
                <a:lnTo>
                  <a:pt x="21481" y="9113"/>
                </a:lnTo>
                <a:cubicBezTo>
                  <a:pt x="21491" y="9113"/>
                  <a:pt x="21499" y="9956"/>
                  <a:pt x="21499" y="10800"/>
                </a:cubicBezTo>
                <a:cubicBezTo>
                  <a:pt x="21499" y="11812"/>
                  <a:pt x="21491" y="12656"/>
                  <a:pt x="21481" y="12656"/>
                </a:cubicBezTo>
                <a:lnTo>
                  <a:pt x="17" y="12656"/>
                </a:lnTo>
                <a:cubicBezTo>
                  <a:pt x="8" y="12656"/>
                  <a:pt x="0" y="11812"/>
                  <a:pt x="0" y="10800"/>
                </a:cubicBezTo>
                <a:cubicBezTo>
                  <a:pt x="0" y="9956"/>
                  <a:pt x="8" y="9113"/>
                  <a:pt x="17" y="9113"/>
                </a:cubicBezTo>
                <a:close/>
                <a:moveTo>
                  <a:pt x="21385" y="0"/>
                </a:moveTo>
                <a:lnTo>
                  <a:pt x="21600" y="10800"/>
                </a:lnTo>
                <a:lnTo>
                  <a:pt x="21385" y="21600"/>
                </a:lnTo>
                <a:lnTo>
                  <a:pt x="21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Линия"/>
          <p:cNvSpPr/>
          <p:nvPr/>
        </p:nvSpPr>
        <p:spPr>
          <a:xfrm>
            <a:off x="4787900" y="3141662"/>
            <a:ext cx="215900" cy="1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1"/>
          <p:cNvSpPr txBox="1"/>
          <p:nvPr/>
        </p:nvSpPr>
        <p:spPr>
          <a:xfrm>
            <a:off x="4356100" y="2997200"/>
            <a:ext cx="15396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58" name="Линия"/>
          <p:cNvSpPr/>
          <p:nvPr/>
        </p:nvSpPr>
        <p:spPr>
          <a:xfrm>
            <a:off x="550862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1"/>
          <p:cNvSpPr txBox="1"/>
          <p:nvPr/>
        </p:nvSpPr>
        <p:spPr>
          <a:xfrm>
            <a:off x="5435600" y="4005262"/>
            <a:ext cx="2159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60" name="Линия"/>
          <p:cNvSpPr/>
          <p:nvPr/>
        </p:nvSpPr>
        <p:spPr>
          <a:xfrm>
            <a:off x="62277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Линия"/>
          <p:cNvSpPr/>
          <p:nvPr/>
        </p:nvSpPr>
        <p:spPr>
          <a:xfrm>
            <a:off x="4859337" y="2781300"/>
            <a:ext cx="3384551" cy="1008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74" y="17212"/>
                  <a:pt x="547" y="12858"/>
                  <a:pt x="4144" y="9252"/>
                </a:cubicBezTo>
                <a:cubicBezTo>
                  <a:pt x="7740" y="5647"/>
                  <a:pt x="18692" y="1531"/>
                  <a:pt x="21600" y="0"/>
                </a:cubicBezTo>
              </a:path>
            </a:pathLst>
          </a:custGeom>
          <a:ln w="25400">
            <a:solidFill>
              <a:srgbClr val="9933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У="/>
          <p:cNvSpPr txBox="1"/>
          <p:nvPr/>
        </p:nvSpPr>
        <p:spPr>
          <a:xfrm>
            <a:off x="8073707" y="2924175"/>
            <a:ext cx="70072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У=</a:t>
            </a:r>
          </a:p>
        </p:txBody>
      </p:sp>
      <p:pic>
        <p:nvPicPr>
          <p:cNvPr id="163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59787" y="2781300"/>
            <a:ext cx="488951" cy="46355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х"/>
          <p:cNvSpPr txBox="1"/>
          <p:nvPr/>
        </p:nvSpPr>
        <p:spPr>
          <a:xfrm>
            <a:off x="8289607" y="3933825"/>
            <a:ext cx="484824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х</a:t>
            </a:r>
          </a:p>
        </p:txBody>
      </p:sp>
      <p:sp>
        <p:nvSpPr>
          <p:cNvPr id="165" name="у"/>
          <p:cNvSpPr txBox="1"/>
          <p:nvPr/>
        </p:nvSpPr>
        <p:spPr>
          <a:xfrm>
            <a:off x="5049519" y="1557337"/>
            <a:ext cx="4133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</a:t>
            </a:r>
          </a:p>
        </p:txBody>
      </p:sp>
      <p:sp>
        <p:nvSpPr>
          <p:cNvPr id="166" name="Линия"/>
          <p:cNvSpPr/>
          <p:nvPr/>
        </p:nvSpPr>
        <p:spPr>
          <a:xfrm>
            <a:off x="4787900" y="4292600"/>
            <a:ext cx="215900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Линия"/>
          <p:cNvSpPr/>
          <p:nvPr/>
        </p:nvSpPr>
        <p:spPr>
          <a:xfrm>
            <a:off x="2484437" y="1700212"/>
            <a:ext cx="71439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Линия"/>
          <p:cNvSpPr/>
          <p:nvPr/>
        </p:nvSpPr>
        <p:spPr>
          <a:xfrm>
            <a:off x="4140200" y="1628774"/>
            <a:ext cx="2016126" cy="417671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У=1-2х"/>
          <p:cNvSpPr txBox="1"/>
          <p:nvPr/>
        </p:nvSpPr>
        <p:spPr>
          <a:xfrm>
            <a:off x="6130607" y="5013325"/>
            <a:ext cx="9880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У=1-2х</a:t>
            </a:r>
          </a:p>
        </p:txBody>
      </p:sp>
      <p:sp>
        <p:nvSpPr>
          <p:cNvPr id="170" name="Линия"/>
          <p:cNvSpPr/>
          <p:nvPr/>
        </p:nvSpPr>
        <p:spPr>
          <a:xfrm>
            <a:off x="5003800" y="3500437"/>
            <a:ext cx="0" cy="288926"/>
          </a:xfrm>
          <a:prstGeom prst="line">
            <a:avLst/>
          </a:prstGeom>
          <a:ln>
            <a:solidFill>
              <a:srgbClr val="000000"/>
            </a:solidFill>
            <a:prstDash val="dashDot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?"/>
          <p:cNvSpPr txBox="1"/>
          <p:nvPr/>
        </p:nvSpPr>
        <p:spPr>
          <a:xfrm>
            <a:off x="4905057" y="3860800"/>
            <a:ext cx="19748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solidFill>
                  <a:srgbClr val="FF0066"/>
                </a:solidFill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Class="entr" nodeType="after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9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Class="entr" nodeType="afterEffect" presetSubtype="4" presetID="22" grpId="5" fill="hold">
                                  <p:stCondLst>
                                    <p:cond delay="2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" presetClass="entr" nodeType="afterEffect" presetSubtype="4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0"/>
                            </p:stCondLst>
                            <p:childTnLst>
                              <p:par>
                                <p:cTn id="29" presetClass="entr" nodeType="afterEffect" presetSubtype="4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8" grpId="1"/>
      <p:bldP build="whole" bldLvl="1" animBg="1" rev="0" advAuto="0" spid="163" grpId="5"/>
      <p:bldP build="whole" bldLvl="1" animBg="1" rev="0" advAuto="0" spid="161" grpId="3"/>
      <p:bldP build="whole" bldLvl="1" animBg="1" rev="0" advAuto="0" spid="162" grpId="4"/>
      <p:bldP build="whole" bldLvl="1" animBg="1" rev="0" advAuto="0" spid="170" grpId="6"/>
      <p:bldP build="whole" bldLvl="1" animBg="1" rev="0" advAuto="0" spid="171" grpId="7"/>
      <p:bldP build="whole" bldLvl="1" animBg="1" rev="0" advAuto="0" spid="169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Графический способ решения уравнения"/>
          <p:cNvSpPr txBox="1"/>
          <p:nvPr>
            <p:ph type="title"/>
          </p:nvPr>
        </p:nvSpPr>
        <p:spPr>
          <a:xfrm>
            <a:off x="457200" y="122237"/>
            <a:ext cx="7543800" cy="1290638"/>
          </a:xfrm>
          <a:prstGeom prst="rect">
            <a:avLst/>
          </a:prstGeom>
        </p:spPr>
        <p:txBody>
          <a:bodyPr/>
          <a:lstStyle/>
          <a:p>
            <a:pPr>
              <a:defRPr sz="3500"/>
            </a:pPr>
            <a:r>
              <a:t>Графический способ решения уравнения</a:t>
            </a:r>
            <a:r>
              <a:rPr sz="2600">
                <a:solidFill>
                  <a:srgbClr val="000000"/>
                </a:solidFill>
              </a:rPr>
              <a:t> 	</a:t>
            </a:r>
          </a:p>
        </p:txBody>
      </p:sp>
      <p:sp>
        <p:nvSpPr>
          <p:cNvPr id="174" name="Прямоугольник"/>
          <p:cNvSpPr/>
          <p:nvPr/>
        </p:nvSpPr>
        <p:spPr>
          <a:xfrm>
            <a:off x="323850" y="1341437"/>
            <a:ext cx="8215313" cy="4525963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Фигура"/>
          <p:cNvSpPr/>
          <p:nvPr/>
        </p:nvSpPr>
        <p:spPr>
          <a:xfrm>
            <a:off x="4821237" y="1527175"/>
            <a:ext cx="76201" cy="4427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12" y="21568"/>
                </a:moveTo>
                <a:lnTo>
                  <a:pt x="9112" y="209"/>
                </a:lnTo>
                <a:cubicBezTo>
                  <a:pt x="9112" y="191"/>
                  <a:pt x="9956" y="177"/>
                  <a:pt x="10800" y="177"/>
                </a:cubicBezTo>
                <a:cubicBezTo>
                  <a:pt x="11812" y="177"/>
                  <a:pt x="12656" y="191"/>
                  <a:pt x="12656" y="209"/>
                </a:cubicBezTo>
                <a:lnTo>
                  <a:pt x="12656" y="21568"/>
                </a:lnTo>
                <a:cubicBezTo>
                  <a:pt x="12656" y="21586"/>
                  <a:pt x="11812" y="21600"/>
                  <a:pt x="10800" y="21600"/>
                </a:cubicBezTo>
                <a:cubicBezTo>
                  <a:pt x="9956" y="21600"/>
                  <a:pt x="9112" y="21586"/>
                  <a:pt x="9112" y="21568"/>
                </a:cubicBezTo>
                <a:close/>
                <a:moveTo>
                  <a:pt x="0" y="371"/>
                </a:moveTo>
                <a:lnTo>
                  <a:pt x="10800" y="0"/>
                </a:lnTo>
                <a:lnTo>
                  <a:pt x="21600" y="371"/>
                </a:lnTo>
                <a:lnTo>
                  <a:pt x="0" y="371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Фигура"/>
          <p:cNvSpPr/>
          <p:nvPr/>
        </p:nvSpPr>
        <p:spPr>
          <a:xfrm>
            <a:off x="908050" y="3733800"/>
            <a:ext cx="7650163" cy="74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" y="9113"/>
                </a:moveTo>
                <a:lnTo>
                  <a:pt x="21481" y="9113"/>
                </a:lnTo>
                <a:cubicBezTo>
                  <a:pt x="21491" y="9113"/>
                  <a:pt x="21499" y="9956"/>
                  <a:pt x="21499" y="10800"/>
                </a:cubicBezTo>
                <a:cubicBezTo>
                  <a:pt x="21499" y="11812"/>
                  <a:pt x="21491" y="12656"/>
                  <a:pt x="21481" y="12656"/>
                </a:cubicBezTo>
                <a:lnTo>
                  <a:pt x="17" y="12656"/>
                </a:lnTo>
                <a:cubicBezTo>
                  <a:pt x="8" y="12656"/>
                  <a:pt x="0" y="11812"/>
                  <a:pt x="0" y="10800"/>
                </a:cubicBezTo>
                <a:cubicBezTo>
                  <a:pt x="0" y="9956"/>
                  <a:pt x="8" y="9113"/>
                  <a:pt x="17" y="9113"/>
                </a:cubicBezTo>
                <a:close/>
                <a:moveTo>
                  <a:pt x="21385" y="0"/>
                </a:moveTo>
                <a:lnTo>
                  <a:pt x="21600" y="10800"/>
                </a:lnTo>
                <a:lnTo>
                  <a:pt x="21385" y="21600"/>
                </a:lnTo>
                <a:lnTo>
                  <a:pt x="21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Линия"/>
          <p:cNvSpPr/>
          <p:nvPr/>
        </p:nvSpPr>
        <p:spPr>
          <a:xfrm flipV="1">
            <a:off x="2555875" y="1341437"/>
            <a:ext cx="4900613" cy="4578351"/>
          </a:xfrm>
          <a:prstGeom prst="line">
            <a:avLst/>
          </a:prstGeom>
          <a:ln w="28575">
            <a:solidFill>
              <a:srgbClr val="000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у=х"/>
          <p:cNvSpPr txBox="1"/>
          <p:nvPr/>
        </p:nvSpPr>
        <p:spPr>
          <a:xfrm>
            <a:off x="6372225" y="1484312"/>
            <a:ext cx="41503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/>
            <a:r>
              <a:t>у=х</a:t>
            </a:r>
          </a:p>
        </p:txBody>
      </p:sp>
      <p:sp>
        <p:nvSpPr>
          <p:cNvPr id="179" name="Линия"/>
          <p:cNvSpPr/>
          <p:nvPr/>
        </p:nvSpPr>
        <p:spPr>
          <a:xfrm>
            <a:off x="4787900" y="3141662"/>
            <a:ext cx="215900" cy="1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1"/>
          <p:cNvSpPr txBox="1"/>
          <p:nvPr/>
        </p:nvSpPr>
        <p:spPr>
          <a:xfrm>
            <a:off x="4356100" y="2997200"/>
            <a:ext cx="15396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81" name="Линия"/>
          <p:cNvSpPr/>
          <p:nvPr/>
        </p:nvSpPr>
        <p:spPr>
          <a:xfrm>
            <a:off x="550862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1"/>
          <p:cNvSpPr txBox="1"/>
          <p:nvPr/>
        </p:nvSpPr>
        <p:spPr>
          <a:xfrm>
            <a:off x="5435600" y="4005262"/>
            <a:ext cx="2159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83" name="Линия"/>
          <p:cNvSpPr/>
          <p:nvPr/>
        </p:nvSpPr>
        <p:spPr>
          <a:xfrm>
            <a:off x="62277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Линия"/>
          <p:cNvSpPr/>
          <p:nvPr/>
        </p:nvSpPr>
        <p:spPr>
          <a:xfrm>
            <a:off x="3635375" y="2276475"/>
            <a:ext cx="3457575" cy="151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74" y="17212"/>
                  <a:pt x="547" y="12858"/>
                  <a:pt x="4144" y="9252"/>
                </a:cubicBezTo>
                <a:cubicBezTo>
                  <a:pt x="7740" y="5647"/>
                  <a:pt x="18692" y="1531"/>
                  <a:pt x="21600" y="0"/>
                </a:cubicBezTo>
              </a:path>
            </a:pathLst>
          </a:custGeom>
          <a:ln w="25400">
            <a:solidFill>
              <a:srgbClr val="9933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У="/>
          <p:cNvSpPr txBox="1"/>
          <p:nvPr/>
        </p:nvSpPr>
        <p:spPr>
          <a:xfrm>
            <a:off x="6633844" y="2997200"/>
            <a:ext cx="70072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У=</a:t>
            </a:r>
          </a:p>
        </p:txBody>
      </p:sp>
      <p:pic>
        <p:nvPicPr>
          <p:cNvPr id="186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19925" y="2852737"/>
            <a:ext cx="936625" cy="541338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х"/>
          <p:cNvSpPr txBox="1"/>
          <p:nvPr/>
        </p:nvSpPr>
        <p:spPr>
          <a:xfrm>
            <a:off x="8289607" y="3933825"/>
            <a:ext cx="484824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х</a:t>
            </a:r>
          </a:p>
        </p:txBody>
      </p:sp>
      <p:sp>
        <p:nvSpPr>
          <p:cNvPr id="188" name="у"/>
          <p:cNvSpPr txBox="1"/>
          <p:nvPr/>
        </p:nvSpPr>
        <p:spPr>
          <a:xfrm>
            <a:off x="5049519" y="1557337"/>
            <a:ext cx="4133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</a:t>
            </a:r>
          </a:p>
        </p:txBody>
      </p:sp>
      <p:sp>
        <p:nvSpPr>
          <p:cNvPr id="189" name="Линия"/>
          <p:cNvSpPr/>
          <p:nvPr/>
        </p:nvSpPr>
        <p:spPr>
          <a:xfrm>
            <a:off x="42846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Линия"/>
          <p:cNvSpPr/>
          <p:nvPr/>
        </p:nvSpPr>
        <p:spPr>
          <a:xfrm>
            <a:off x="363537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2"/>
          <p:cNvSpPr txBox="1"/>
          <p:nvPr/>
        </p:nvSpPr>
        <p:spPr>
          <a:xfrm>
            <a:off x="6130607" y="3933825"/>
            <a:ext cx="772161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2</a:t>
            </a:r>
          </a:p>
        </p:txBody>
      </p:sp>
      <p:sp>
        <p:nvSpPr>
          <p:cNvPr id="192" name="-2"/>
          <p:cNvSpPr txBox="1"/>
          <p:nvPr/>
        </p:nvSpPr>
        <p:spPr>
          <a:xfrm>
            <a:off x="3393757" y="3860800"/>
            <a:ext cx="484824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b="1" sz="2000"/>
            </a:lvl1pPr>
          </a:lstStyle>
          <a:p>
            <a:pPr/>
            <a:r>
              <a:t>-2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Графический способ решения уравнения"/>
          <p:cNvSpPr txBox="1"/>
          <p:nvPr>
            <p:ph type="title"/>
          </p:nvPr>
        </p:nvSpPr>
        <p:spPr>
          <a:xfrm>
            <a:off x="539750" y="765175"/>
            <a:ext cx="7543800" cy="768350"/>
          </a:xfrm>
          <a:prstGeom prst="rect">
            <a:avLst/>
          </a:prstGeom>
        </p:spPr>
        <p:txBody>
          <a:bodyPr/>
          <a:lstStyle/>
          <a:p>
            <a:pPr defTabSz="365760">
              <a:defRPr sz="1400"/>
            </a:pPr>
            <a:br/>
            <a:br/>
            <a:br/>
            <a:r>
              <a:t>Графический способ решения уравнения</a:t>
            </a:r>
          </a:p>
        </p:txBody>
      </p:sp>
      <p:sp>
        <p:nvSpPr>
          <p:cNvPr id="195" name="Фигура"/>
          <p:cNvSpPr/>
          <p:nvPr/>
        </p:nvSpPr>
        <p:spPr>
          <a:xfrm>
            <a:off x="4821237" y="1527175"/>
            <a:ext cx="76201" cy="4427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12" y="21568"/>
                </a:moveTo>
                <a:lnTo>
                  <a:pt x="9112" y="209"/>
                </a:lnTo>
                <a:cubicBezTo>
                  <a:pt x="9112" y="191"/>
                  <a:pt x="9956" y="177"/>
                  <a:pt x="10800" y="177"/>
                </a:cubicBezTo>
                <a:cubicBezTo>
                  <a:pt x="11812" y="177"/>
                  <a:pt x="12656" y="191"/>
                  <a:pt x="12656" y="209"/>
                </a:cubicBezTo>
                <a:lnTo>
                  <a:pt x="12656" y="21568"/>
                </a:lnTo>
                <a:cubicBezTo>
                  <a:pt x="12656" y="21586"/>
                  <a:pt x="11812" y="21600"/>
                  <a:pt x="10800" y="21600"/>
                </a:cubicBezTo>
                <a:cubicBezTo>
                  <a:pt x="9956" y="21600"/>
                  <a:pt x="9112" y="21586"/>
                  <a:pt x="9112" y="21568"/>
                </a:cubicBezTo>
                <a:close/>
                <a:moveTo>
                  <a:pt x="0" y="371"/>
                </a:moveTo>
                <a:lnTo>
                  <a:pt x="10800" y="0"/>
                </a:lnTo>
                <a:lnTo>
                  <a:pt x="21600" y="371"/>
                </a:lnTo>
                <a:lnTo>
                  <a:pt x="0" y="371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Фигура"/>
          <p:cNvSpPr/>
          <p:nvPr/>
        </p:nvSpPr>
        <p:spPr>
          <a:xfrm>
            <a:off x="908050" y="3733800"/>
            <a:ext cx="7650163" cy="74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" y="9113"/>
                </a:moveTo>
                <a:lnTo>
                  <a:pt x="21481" y="9113"/>
                </a:lnTo>
                <a:cubicBezTo>
                  <a:pt x="21491" y="9113"/>
                  <a:pt x="21499" y="9956"/>
                  <a:pt x="21499" y="10800"/>
                </a:cubicBezTo>
                <a:cubicBezTo>
                  <a:pt x="21499" y="11812"/>
                  <a:pt x="21491" y="12656"/>
                  <a:pt x="21481" y="12656"/>
                </a:cubicBezTo>
                <a:lnTo>
                  <a:pt x="17" y="12656"/>
                </a:lnTo>
                <a:cubicBezTo>
                  <a:pt x="8" y="12656"/>
                  <a:pt x="0" y="11812"/>
                  <a:pt x="0" y="10800"/>
                </a:cubicBezTo>
                <a:cubicBezTo>
                  <a:pt x="0" y="9956"/>
                  <a:pt x="8" y="9113"/>
                  <a:pt x="17" y="9113"/>
                </a:cubicBezTo>
                <a:close/>
                <a:moveTo>
                  <a:pt x="21385" y="0"/>
                </a:moveTo>
                <a:lnTo>
                  <a:pt x="21600" y="10800"/>
                </a:lnTo>
                <a:lnTo>
                  <a:pt x="21385" y="21600"/>
                </a:lnTo>
                <a:lnTo>
                  <a:pt x="21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  <a:bevel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Линия"/>
          <p:cNvSpPr/>
          <p:nvPr/>
        </p:nvSpPr>
        <p:spPr>
          <a:xfrm>
            <a:off x="4787900" y="3141662"/>
            <a:ext cx="215900" cy="1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1"/>
          <p:cNvSpPr txBox="1"/>
          <p:nvPr/>
        </p:nvSpPr>
        <p:spPr>
          <a:xfrm>
            <a:off x="4356100" y="2997200"/>
            <a:ext cx="15396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199" name="Линия"/>
          <p:cNvSpPr/>
          <p:nvPr/>
        </p:nvSpPr>
        <p:spPr>
          <a:xfrm>
            <a:off x="5508625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1"/>
          <p:cNvSpPr txBox="1"/>
          <p:nvPr/>
        </p:nvSpPr>
        <p:spPr>
          <a:xfrm>
            <a:off x="5435600" y="4005262"/>
            <a:ext cx="2159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/>
            </a:lvl1pPr>
          </a:lstStyle>
          <a:p>
            <a:pPr/>
            <a:r>
              <a:t>1</a:t>
            </a:r>
          </a:p>
        </p:txBody>
      </p:sp>
      <p:sp>
        <p:nvSpPr>
          <p:cNvPr id="201" name="Линия"/>
          <p:cNvSpPr/>
          <p:nvPr/>
        </p:nvSpPr>
        <p:spPr>
          <a:xfrm>
            <a:off x="6227762" y="3644900"/>
            <a:ext cx="1588" cy="207963"/>
          </a:xfrm>
          <a:prstGeom prst="line">
            <a:avLst/>
          </a:prstGeom>
          <a:ln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Линия"/>
          <p:cNvSpPr/>
          <p:nvPr/>
        </p:nvSpPr>
        <p:spPr>
          <a:xfrm>
            <a:off x="4859337" y="2781300"/>
            <a:ext cx="3384551" cy="1008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74" y="17212"/>
                  <a:pt x="547" y="12858"/>
                  <a:pt x="4144" y="9252"/>
                </a:cubicBezTo>
                <a:cubicBezTo>
                  <a:pt x="7740" y="5647"/>
                  <a:pt x="18692" y="1531"/>
                  <a:pt x="21600" y="0"/>
                </a:cubicBezTo>
              </a:path>
            </a:pathLst>
          </a:custGeom>
          <a:ln w="25400">
            <a:solidFill>
              <a:srgbClr val="9933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У="/>
          <p:cNvSpPr txBox="1"/>
          <p:nvPr/>
        </p:nvSpPr>
        <p:spPr>
          <a:xfrm>
            <a:off x="8073707" y="2924175"/>
            <a:ext cx="70072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У=</a:t>
            </a:r>
          </a:p>
        </p:txBody>
      </p:sp>
      <p:pic>
        <p:nvPicPr>
          <p:cNvPr id="204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59787" y="2781300"/>
            <a:ext cx="488951" cy="46355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х"/>
          <p:cNvSpPr txBox="1"/>
          <p:nvPr/>
        </p:nvSpPr>
        <p:spPr>
          <a:xfrm>
            <a:off x="8289607" y="3933825"/>
            <a:ext cx="484824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х</a:t>
            </a:r>
          </a:p>
        </p:txBody>
      </p:sp>
      <p:sp>
        <p:nvSpPr>
          <p:cNvPr id="206" name="у"/>
          <p:cNvSpPr txBox="1"/>
          <p:nvPr/>
        </p:nvSpPr>
        <p:spPr>
          <a:xfrm>
            <a:off x="5049519" y="1557337"/>
            <a:ext cx="4133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</a:t>
            </a:r>
          </a:p>
        </p:txBody>
      </p:sp>
      <p:sp>
        <p:nvSpPr>
          <p:cNvPr id="207" name="Линия"/>
          <p:cNvSpPr/>
          <p:nvPr/>
        </p:nvSpPr>
        <p:spPr>
          <a:xfrm>
            <a:off x="4787900" y="4292600"/>
            <a:ext cx="215900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Линия"/>
          <p:cNvSpPr/>
          <p:nvPr/>
        </p:nvSpPr>
        <p:spPr>
          <a:xfrm>
            <a:off x="4140200" y="1628774"/>
            <a:ext cx="2016126" cy="417671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У=1-2х"/>
          <p:cNvSpPr txBox="1"/>
          <p:nvPr/>
        </p:nvSpPr>
        <p:spPr>
          <a:xfrm>
            <a:off x="6130607" y="5013325"/>
            <a:ext cx="9880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У=1-2х</a:t>
            </a:r>
          </a:p>
        </p:txBody>
      </p:sp>
      <p:sp>
        <p:nvSpPr>
          <p:cNvPr id="210" name="Линия"/>
          <p:cNvSpPr/>
          <p:nvPr/>
        </p:nvSpPr>
        <p:spPr>
          <a:xfrm>
            <a:off x="5003800" y="3500437"/>
            <a:ext cx="0" cy="288926"/>
          </a:xfrm>
          <a:prstGeom prst="line">
            <a:avLst/>
          </a:prstGeom>
          <a:ln>
            <a:solidFill>
              <a:srgbClr val="000000"/>
            </a:solidFill>
            <a:prstDash val="dashDot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?"/>
          <p:cNvSpPr txBox="1"/>
          <p:nvPr/>
        </p:nvSpPr>
        <p:spPr>
          <a:xfrm>
            <a:off x="4905057" y="3860800"/>
            <a:ext cx="19748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solidFill>
                  <a:srgbClr val="FF0066"/>
                </a:solidFill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Алгоритм решения иррационального уравнения"/>
          <p:cNvSpPr txBox="1"/>
          <p:nvPr>
            <p:ph type="title"/>
          </p:nvPr>
        </p:nvSpPr>
        <p:spPr>
          <a:xfrm>
            <a:off x="457200" y="122237"/>
            <a:ext cx="7543800" cy="1295401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pPr/>
            <a:r>
              <a:t>Алгоритм решения иррационального уравнения</a:t>
            </a:r>
          </a:p>
        </p:txBody>
      </p:sp>
      <p:sp>
        <p:nvSpPr>
          <p:cNvPr id="214" name="Возвести обе части уравнения в квадрат.…"/>
          <p:cNvSpPr txBox="1"/>
          <p:nvPr>
            <p:ph type="body" sz="half" idx="1"/>
          </p:nvPr>
        </p:nvSpPr>
        <p:spPr>
          <a:xfrm>
            <a:off x="2619375" y="2028825"/>
            <a:ext cx="5988050" cy="4073525"/>
          </a:xfrm>
          <a:prstGeom prst="rect">
            <a:avLst/>
          </a:prstGeom>
        </p:spPr>
        <p:txBody>
          <a:bodyPr/>
          <a:lstStyle/>
          <a:p>
            <a:pPr marL="533400" indent="-533400">
              <a:buAutoNum type="arabicPeriod" startAt="1"/>
            </a:pPr>
            <a:r>
              <a:t>Возвести обе части уравнения в квадрат.</a:t>
            </a:r>
          </a:p>
          <a:p>
            <a:pPr marL="533400" indent="-533400">
              <a:buAutoNum type="arabicPeriod" startAt="1"/>
            </a:pPr>
            <a:r>
              <a:t>Решить полученное рациональное уравнение.</a:t>
            </a:r>
          </a:p>
          <a:p>
            <a:pPr marL="533400" indent="-533400">
              <a:buAutoNum type="arabicPeriod" startAt="1"/>
            </a:pPr>
            <a:r>
              <a:t>Проверить полученные корни подстановкой в исходное уравнение.</a:t>
            </a:r>
          </a:p>
          <a:p>
            <a:pPr marL="533400" indent="-533400">
              <a:buAutoNum type="arabicPeriod" startAt="1"/>
            </a:pPr>
            <a:r>
              <a:t>Выписать ответ.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Class="entr" nodeType="afterEffect" presetSubtype="4" presetID="2" grpId="1" fill="hold">
                                  <p:stCondLst>
                                    <p:cond delay="4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0"/>
                            </p:stCondLst>
                            <p:childTnLst>
                              <p:par>
                                <p:cTn id="19" presetClass="entr" nodeType="afterEffect" presetSubtype="4" presetID="2" grpId="1" fill="hold">
                                  <p:stCondLst>
                                    <p:cond delay="4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0"/>
                            </p:stCondLst>
                            <p:childTnLst>
                              <p:par>
                                <p:cTn id="24" presetClass="entr" nodeType="afterEffect" presetSubtype="4" presetID="2" grpId="1" fill="hold">
                                  <p:stCondLst>
                                    <p:cond delay="4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1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Прямоугольник"/>
          <p:cNvSpPr/>
          <p:nvPr/>
        </p:nvSpPr>
        <p:spPr>
          <a:xfrm>
            <a:off x="611187" y="3005939"/>
            <a:ext cx="3097214" cy="9283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17" name="Ответ:"/>
          <p:cNvSpPr txBox="1"/>
          <p:nvPr/>
        </p:nvSpPr>
        <p:spPr>
          <a:xfrm>
            <a:off x="480152" y="5874274"/>
            <a:ext cx="2998921" cy="842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Ответ: </a:t>
            </a:r>
          </a:p>
        </p:txBody>
      </p:sp>
      <p:pic>
        <p:nvPicPr>
          <p:cNvPr id="218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4862" y="0"/>
            <a:ext cx="3335338" cy="881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image.pdf" descr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0700" y="836612"/>
            <a:ext cx="3917950" cy="7953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2" name="Сгруппировать"/>
          <p:cNvGrpSpPr/>
          <p:nvPr/>
        </p:nvGrpSpPr>
        <p:grpSpPr>
          <a:xfrm>
            <a:off x="827087" y="1628774"/>
            <a:ext cx="3097213" cy="976314"/>
            <a:chOff x="0" y="0"/>
            <a:chExt cx="3097212" cy="976312"/>
          </a:xfrm>
        </p:grpSpPr>
        <p:sp>
          <p:nvSpPr>
            <p:cNvPr id="220" name="Прямоугольник"/>
            <p:cNvSpPr/>
            <p:nvPr/>
          </p:nvSpPr>
          <p:spPr>
            <a:xfrm>
              <a:off x="0" y="0"/>
              <a:ext cx="3097213" cy="9763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aseline="30000" i="1" sz="4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1" name="х2 –х-2=4"/>
            <p:cNvSpPr txBox="1"/>
            <p:nvPr/>
          </p:nvSpPr>
          <p:spPr>
            <a:xfrm>
              <a:off x="45719" y="0"/>
              <a:ext cx="3005774" cy="715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i="1" sz="4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х</a:t>
              </a:r>
              <a:r>
                <a:rPr baseline="30000"/>
                <a:t>2</a:t>
              </a:r>
              <a:r>
                <a:t> –х-2=4</a:t>
              </a:r>
            </a:p>
          </p:txBody>
        </p:sp>
      </p:grpSp>
      <p:grpSp>
        <p:nvGrpSpPr>
          <p:cNvPr id="225" name="Сгруппировать"/>
          <p:cNvGrpSpPr/>
          <p:nvPr/>
        </p:nvGrpSpPr>
        <p:grpSpPr>
          <a:xfrm>
            <a:off x="755650" y="2492375"/>
            <a:ext cx="3384550" cy="1363102"/>
            <a:chOff x="0" y="0"/>
            <a:chExt cx="3384550" cy="1363101"/>
          </a:xfrm>
        </p:grpSpPr>
        <p:sp>
          <p:nvSpPr>
            <p:cNvPr id="223" name="Прямоугольник"/>
            <p:cNvSpPr/>
            <p:nvPr/>
          </p:nvSpPr>
          <p:spPr>
            <a:xfrm>
              <a:off x="0" y="0"/>
              <a:ext cx="3384550" cy="6477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4400"/>
              </a:pPr>
            </a:p>
          </p:txBody>
        </p:sp>
        <p:sp>
          <p:nvSpPr>
            <p:cNvPr id="224" name="х2 –х - 6=0"/>
            <p:cNvSpPr txBox="1"/>
            <p:nvPr/>
          </p:nvSpPr>
          <p:spPr>
            <a:xfrm>
              <a:off x="45719" y="0"/>
              <a:ext cx="3293112" cy="1363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i="1" sz="4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х</a:t>
              </a:r>
              <a:r>
                <a:rPr baseline="30000"/>
                <a:t>2 </a:t>
              </a:r>
              <a:r>
                <a:t>–х - 6=0</a:t>
              </a:r>
            </a:p>
          </p:txBody>
        </p:sp>
      </p:grpSp>
      <p:pic>
        <p:nvPicPr>
          <p:cNvPr id="226" name="image.pdf" descr="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7087" y="4652962"/>
            <a:ext cx="2305051" cy="107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2=2"/>
          <p:cNvSpPr txBox="1"/>
          <p:nvPr/>
        </p:nvSpPr>
        <p:spPr>
          <a:xfrm>
            <a:off x="872807" y="5314696"/>
            <a:ext cx="1924686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400"/>
              </a:spcBef>
              <a:defRPr i="1" sz="2400"/>
            </a:lvl1pPr>
          </a:lstStyle>
          <a:p>
            <a:pPr/>
            <a:r>
              <a:t>2=2</a:t>
            </a:r>
          </a:p>
        </p:txBody>
      </p:sp>
      <p:pic>
        <p:nvPicPr>
          <p:cNvPr id="228" name="image.pdf" descr="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79837" y="4581525"/>
            <a:ext cx="2616201" cy="1127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image.pdf" descr="imag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116387" y="5300662"/>
            <a:ext cx="1031876" cy="465138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x2 = -2"/>
          <p:cNvSpPr txBox="1"/>
          <p:nvPr/>
        </p:nvSpPr>
        <p:spPr>
          <a:xfrm>
            <a:off x="3576320" y="3220524"/>
            <a:ext cx="2616201" cy="817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4400"/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4181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= -2</a:t>
            </a:r>
          </a:p>
        </p:txBody>
      </p:sp>
      <p:sp>
        <p:nvSpPr>
          <p:cNvPr id="231" name="-2"/>
          <p:cNvSpPr txBox="1"/>
          <p:nvPr/>
        </p:nvSpPr>
        <p:spPr>
          <a:xfrm>
            <a:off x="3538219" y="6021387"/>
            <a:ext cx="772162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900"/>
              </a:spcBef>
              <a:defRPr sz="3200"/>
            </a:lvl1pPr>
          </a:lstStyle>
          <a:p>
            <a:pPr/>
            <a:r>
              <a:t>-2</a:t>
            </a:r>
          </a:p>
        </p:txBody>
      </p:sp>
      <p:sp>
        <p:nvSpPr>
          <p:cNvPr id="232" name="3;"/>
          <p:cNvSpPr txBox="1"/>
          <p:nvPr/>
        </p:nvSpPr>
        <p:spPr>
          <a:xfrm>
            <a:off x="2746057" y="6021387"/>
            <a:ext cx="484824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900"/>
              </a:spcBef>
              <a:defRPr sz="3200"/>
            </a:lvl1pPr>
          </a:lstStyle>
          <a:p>
            <a:pPr/>
            <a:r>
              <a:t>3;</a:t>
            </a:r>
          </a:p>
        </p:txBody>
      </p:sp>
      <p:sp>
        <p:nvSpPr>
          <p:cNvPr id="233" name="Прямоугольник"/>
          <p:cNvSpPr/>
          <p:nvPr/>
        </p:nvSpPr>
        <p:spPr>
          <a:xfrm>
            <a:off x="4408487" y="2192320"/>
            <a:ext cx="3097214" cy="9283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34" name="Проверка"/>
          <p:cNvSpPr txBox="1"/>
          <p:nvPr/>
        </p:nvSpPr>
        <p:spPr>
          <a:xfrm>
            <a:off x="2095433" y="3916577"/>
            <a:ext cx="2998922" cy="79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Проверка</a:t>
            </a:r>
          </a:p>
        </p:txBody>
      </p:sp>
      <p:sp>
        <p:nvSpPr>
          <p:cNvPr id="235" name="Прямоугольник"/>
          <p:cNvSpPr/>
          <p:nvPr/>
        </p:nvSpPr>
        <p:spPr>
          <a:xfrm>
            <a:off x="4747418" y="1125520"/>
            <a:ext cx="3097214" cy="9283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36" name="х1 = 3"/>
          <p:cNvSpPr txBox="1"/>
          <p:nvPr/>
        </p:nvSpPr>
        <p:spPr>
          <a:xfrm>
            <a:off x="1206433" y="3231356"/>
            <a:ext cx="2998922" cy="79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>
              <a:defRPr i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х</a:t>
            </a:r>
            <a:r>
              <a:rPr baseline="-25000"/>
              <a:t>1 </a:t>
            </a:r>
            <a:r>
              <a:t>= </a:t>
            </a:r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Class="entr" nodeType="after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Class="entr" nodeType="after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Class="entr" nodeType="after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9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Class="entr" nodeType="after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8" grpId="7"/>
      <p:bldP build="whole" bldLvl="1" animBg="1" rev="0" advAuto="0" spid="219" grpId="1"/>
      <p:bldP build="whole" bldLvl="1" animBg="1" rev="0" advAuto="0" spid="222" grpId="2"/>
      <p:bldP build="whole" bldLvl="1" animBg="1" rev="0" advAuto="0" spid="225" grpId="3"/>
      <p:bldP build="whole" bldLvl="1" animBg="1" rev="0" advAuto="0" spid="230" grpId="4"/>
      <p:bldP build="whole" bldLvl="1" animBg="1" rev="0" advAuto="0" spid="227" grpId="6"/>
      <p:bldP build="whole" bldLvl="1" animBg="1" rev="0" advAuto="0" spid="232" grpId="9"/>
      <p:bldP build="whole" bldLvl="1" animBg="1" rev="0" advAuto="0" spid="226" grpId="5"/>
      <p:bldP build="whole" bldLvl="1" animBg="1" rev="0" advAuto="0" spid="231" grpId="10"/>
      <p:bldP build="whole" bldLvl="1" animBg="1" rev="0" advAuto="0" spid="229" grpId="8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Алгоритм решения иррационального уравнения:…"/>
          <p:cNvSpPr txBox="1"/>
          <p:nvPr>
            <p:ph type="body" idx="1"/>
          </p:nvPr>
        </p:nvSpPr>
        <p:spPr>
          <a:xfrm>
            <a:off x="457200" y="1719262"/>
            <a:ext cx="8229600" cy="4411663"/>
          </a:xfrm>
          <a:prstGeom prst="rect">
            <a:avLst/>
          </a:prstGeom>
        </p:spPr>
        <p:txBody>
          <a:bodyPr/>
          <a:lstStyle/>
          <a:p>
            <a:pPr marL="495300" indent="-495300" algn="ctr">
              <a:lnSpc>
                <a:spcPct val="90000"/>
              </a:lnSpc>
              <a:buSzTx/>
              <a:buFont typeface="Wingdings"/>
              <a:buNone/>
            </a:pPr>
            <a:r>
              <a:t>Алгоритм решения иррационального уравнения:</a:t>
            </a:r>
          </a:p>
          <a:p>
            <a:pPr marL="495300" indent="-495300">
              <a:lnSpc>
                <a:spcPct val="90000"/>
              </a:lnSpc>
              <a:buChar char="●"/>
              <a:defRPr b="1">
                <a:solidFill>
                  <a:srgbClr val="FF0066"/>
                </a:solidFill>
              </a:defRPr>
            </a:pPr>
            <a:r>
              <a:t>Возвести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обе части уравнения </a:t>
            </a:r>
            <a:r>
              <a:t>в</a:t>
            </a:r>
            <a:r>
              <a:rPr>
                <a:solidFill>
                  <a:srgbClr val="000000"/>
                </a:solidFill>
              </a:rPr>
              <a:t> </a:t>
            </a:r>
            <a:r>
              <a:t>квадрат.</a:t>
            </a:r>
          </a:p>
          <a:p>
            <a:pPr marL="495300" indent="-495300">
              <a:lnSpc>
                <a:spcPct val="90000"/>
              </a:lnSpc>
              <a:buChar char="●"/>
            </a:pPr>
            <a:r>
              <a:t>Решить полученное рациональное уравнение.</a:t>
            </a:r>
          </a:p>
          <a:p>
            <a:pPr marL="495300" indent="-495300">
              <a:lnSpc>
                <a:spcPct val="90000"/>
              </a:lnSpc>
              <a:buChar char="●"/>
              <a:defRPr b="1">
                <a:solidFill>
                  <a:srgbClr val="FF0066"/>
                </a:solidFill>
              </a:defRPr>
            </a:pPr>
            <a:r>
              <a:t>Проверить</a:t>
            </a:r>
            <a:r>
              <a:rPr b="0">
                <a:solidFill>
                  <a:srgbClr val="000000"/>
                </a:solidFill>
              </a:rPr>
              <a:t> полученные </a:t>
            </a:r>
            <a:r>
              <a:t>корни</a:t>
            </a:r>
            <a:r>
              <a:rPr b="0">
                <a:solidFill>
                  <a:srgbClr val="000000"/>
                </a:solidFill>
              </a:rPr>
              <a:t> подстановкой в исходное уравнение.</a:t>
            </a:r>
            <a:endParaRPr b="0">
              <a:solidFill>
                <a:srgbClr val="000000"/>
              </a:solidFill>
            </a:endParaRPr>
          </a:p>
          <a:p>
            <a:pPr marL="495300" indent="-495300">
              <a:lnSpc>
                <a:spcPct val="90000"/>
              </a:lnSpc>
              <a:buChar char="●"/>
            </a:pPr>
            <a:r>
              <a:t>Выписать ответ.</a:t>
            </a:r>
          </a:p>
        </p:txBody>
      </p:sp>
      <p:sp>
        <p:nvSpPr>
          <p:cNvPr id="239" name="Уравнение, содержащее переменную под знаком корня, называется иррациональным."/>
          <p:cNvSpPr txBox="1"/>
          <p:nvPr/>
        </p:nvSpPr>
        <p:spPr>
          <a:xfrm>
            <a:off x="369569" y="333375"/>
            <a:ext cx="7396799" cy="86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500"/>
              </a:spcBef>
              <a:defRPr sz="2600"/>
            </a:pPr>
            <a:r>
              <a:t>Уравнение, содержащее </a:t>
            </a:r>
            <a:r>
              <a:rPr b="1">
                <a:solidFill>
                  <a:srgbClr val="FF0066"/>
                </a:solidFill>
              </a:rPr>
              <a:t>переменную </a:t>
            </a:r>
            <a:r>
              <a:t>под</a:t>
            </a:r>
            <a:r>
              <a:rPr b="1"/>
              <a:t> </a:t>
            </a:r>
            <a:r>
              <a:t>знаком</a:t>
            </a:r>
            <a:r>
              <a:rPr b="1">
                <a:solidFill>
                  <a:srgbClr val="FF0066"/>
                </a:solidFill>
              </a:rPr>
              <a:t> корня</a:t>
            </a:r>
            <a:r>
              <a:t>, называется иррациональным.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Оцени свою работу на уроке"/>
          <p:cNvSpPr txBox="1"/>
          <p:nvPr>
            <p:ph type="title"/>
          </p:nvPr>
        </p:nvSpPr>
        <p:spPr>
          <a:xfrm>
            <a:off x="457200" y="122237"/>
            <a:ext cx="7543800" cy="1295401"/>
          </a:xfrm>
          <a:prstGeom prst="rect">
            <a:avLst/>
          </a:prstGeom>
        </p:spPr>
        <p:txBody>
          <a:bodyPr/>
          <a:lstStyle/>
          <a:p>
            <a:pPr/>
            <a:r>
              <a:t>Оцени свою работу на уроке</a:t>
            </a:r>
          </a:p>
        </p:txBody>
      </p:sp>
      <p:sp>
        <p:nvSpPr>
          <p:cNvPr id="242" name="+1  я работал(а) увлеченно…"/>
          <p:cNvSpPr txBox="1"/>
          <p:nvPr>
            <p:ph type="body" idx="1"/>
          </p:nvPr>
        </p:nvSpPr>
        <p:spPr>
          <a:xfrm>
            <a:off x="457200" y="1719262"/>
            <a:ext cx="8229600" cy="4411663"/>
          </a:xfrm>
          <a:prstGeom prst="rect">
            <a:avLst/>
          </a:prstGeom>
        </p:spPr>
        <p:txBody>
          <a:bodyPr/>
          <a:lstStyle/>
          <a:p>
            <a:pPr>
              <a:buChar char="●"/>
            </a:pPr>
            <a:r>
              <a:t>+1		я работал(а) увлеченно</a:t>
            </a:r>
          </a:p>
          <a:p>
            <a:pPr>
              <a:buChar char="●"/>
            </a:pPr>
          </a:p>
          <a:p>
            <a:pPr>
              <a:buChar char="●"/>
            </a:pPr>
            <a:r>
              <a:t>0		я работал(а)</a:t>
            </a:r>
          </a:p>
          <a:p>
            <a:pPr>
              <a:buChar char="●"/>
            </a:pPr>
          </a:p>
          <a:p>
            <a:pPr>
              <a:buChar char="●"/>
            </a:pPr>
            <a:r>
              <a:t>-1		я скучал(а)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Сеть">
  <a:themeElements>
    <a:clrScheme name="Сет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C9900"/>
      </a:accent1>
      <a:accent2>
        <a:srgbClr val="CC33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Сеть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Се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Сеть">
  <a:themeElements>
    <a:clrScheme name="Сет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C9900"/>
      </a:accent1>
      <a:accent2>
        <a:srgbClr val="CC33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Сеть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Се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